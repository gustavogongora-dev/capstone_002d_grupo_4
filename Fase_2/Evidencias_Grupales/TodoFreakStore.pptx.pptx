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" charset="1" panose="020B0604020202020204"/>
      <p:regular r:id="rId28"/>
    </p:embeddedFont>
    <p:embeddedFont>
      <p:font typeface="Arial Bold" charset="1" panose="020B0704020202020204"/>
      <p:regular r:id="rId29"/>
    </p:embeddedFont>
    <p:embeddedFont>
      <p:font typeface="Open Sans" charset="1" panose="00000000000000000000"/>
      <p:regular r:id="rId30"/>
    </p:embeddedFont>
    <p:embeddedFont>
      <p:font typeface="Poppins Bold" charset="1" panose="00000800000000000000"/>
      <p:regular r:id="rId32"/>
    </p:embeddedFont>
    <p:embeddedFont>
      <p:font typeface="Atkinson Hyperlegible Bold" charset="1" panose="00000000000000000000"/>
      <p:regular r:id="rId34"/>
    </p:embeddedFont>
    <p:embeddedFont>
      <p:font typeface="Poppins Italics" charset="1" panose="00000500000000000000"/>
      <p:regular r:id="rId35"/>
    </p:embeddedFont>
    <p:embeddedFont>
      <p:font typeface="Poppins Bold Italics" charset="1" panose="00000800000000000000"/>
      <p:regular r:id="rId36"/>
    </p:embeddedFont>
    <p:embeddedFont>
      <p:font typeface="Atkinson Hyperlegible Bold Italics" charset="1" panose="00000000000000000000"/>
      <p:regular r:id="rId37"/>
    </p:embeddedFont>
    <p:embeddedFont>
      <p:font typeface="Poppins Light Italics" charset="1" panose="00000400000000000000"/>
      <p:regular r:id="rId39"/>
    </p:embeddedFont>
    <p:embeddedFont>
      <p:font typeface="Poppins Light" charset="1" panose="00000400000000000000"/>
      <p:regular r:id="rId41"/>
    </p:embeddedFont>
    <p:embeddedFont>
      <p:font typeface="Open Sans Bold" charset="1" panose="00000000000000000000"/>
      <p:regular r:id="rId44"/>
    </p:embeddedFont>
    <p:embeddedFont>
      <p:font typeface="Poppins" charset="1" panose="00000500000000000000"/>
      <p:regular r:id="rId45"/>
    </p:embeddedFont>
    <p:embeddedFont>
      <p:font typeface="Saira Bold" charset="1" panose="00000800000000000000"/>
      <p:regular r:id="rId47"/>
    </p:embeddedFont>
    <p:embeddedFont>
      <p:font typeface="Arial Italics" charset="1" panose="020B0604020202090204"/>
      <p:regular r:id="rId51"/>
    </p:embeddedFont>
    <p:embeddedFont>
      <p:font typeface="Calibri (MS) Bold" charset="1" panose="020F0702030404030204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notesSlides/notesSlide8.xml" Type="http://schemas.openxmlformats.org/officeDocument/2006/relationships/notesSlide"/><Relationship Id="rId47" Target="fonts/font47.fntdata" Type="http://schemas.openxmlformats.org/officeDocument/2006/relationships/font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2.xml" Type="http://schemas.openxmlformats.org/officeDocument/2006/relationships/notesSlide"/><Relationship Id="rId53" Target="notesSlides/notesSlide13.xml" Type="http://schemas.openxmlformats.org/officeDocument/2006/relationships/notesSlide"/><Relationship Id="rId54" Target="fonts/font54.fntdata" Type="http://schemas.openxmlformats.org/officeDocument/2006/relationships/font"/><Relationship Id="rId55" Target="notesSlides/notesSlide14.xml" Type="http://schemas.openxmlformats.org/officeDocument/2006/relationships/notesSlide"/><Relationship Id="rId56" Target="notesSlides/notesSlide15.xml" Type="http://schemas.openxmlformats.org/officeDocument/2006/relationships/notesSlide"/><Relationship Id="rId57" Target="notesSlides/notesSlide16.xml" Type="http://schemas.openxmlformats.org/officeDocument/2006/relationships/notesSlide"/><Relationship Id="rId58" Target="notesSlides/notesSlide17.xml" Type="http://schemas.openxmlformats.org/officeDocument/2006/relationships/notesSlide"/><Relationship Id="rId59" Target="notesSlides/notesSlide18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9.xml" Type="http://schemas.openxmlformats.org/officeDocument/2006/relationships/notes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4.png" Type="http://schemas.openxmlformats.org/officeDocument/2006/relationships/image"/><Relationship Id="rId8" Target="../media/image5.jpe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1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0.jpeg" Type="http://schemas.openxmlformats.org/officeDocument/2006/relationships/image"/><Relationship Id="rId4" Target="../media/image18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8.png" Type="http://schemas.openxmlformats.org/officeDocument/2006/relationships/image"/><Relationship Id="rId11" Target="../media/image29.png" Type="http://schemas.openxmlformats.org/officeDocument/2006/relationships/image"/><Relationship Id="rId12" Target="../media/image30.png" Type="http://schemas.openxmlformats.org/officeDocument/2006/relationships/image"/><Relationship Id="rId13" Target="../media/image31.png" Type="http://schemas.openxmlformats.org/officeDocument/2006/relationships/image"/><Relationship Id="rId14" Target="../media/image32.png" Type="http://schemas.openxmlformats.org/officeDocument/2006/relationships/image"/><Relationship Id="rId15" Target="../media/image9.png" Type="http://schemas.openxmlformats.org/officeDocument/2006/relationships/image"/><Relationship Id="rId16" Target="../media/image33.pn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2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Relationship Id="rId9" Target="../media/image2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13" Target="../media/image41.png" Type="http://schemas.openxmlformats.org/officeDocument/2006/relationships/image"/><Relationship Id="rId14" Target="../media/image2.png" Type="http://schemas.openxmlformats.org/officeDocument/2006/relationships/image"/><Relationship Id="rId15" Target="../media/image42.pn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34.png" Type="http://schemas.openxmlformats.org/officeDocument/2006/relationships/image"/><Relationship Id="rId6" Target="../media/image25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44.png" Type="http://schemas.openxmlformats.org/officeDocument/2006/relationships/image"/><Relationship Id="rId4" Target="../media/image2.png" Type="http://schemas.openxmlformats.org/officeDocument/2006/relationships/image"/><Relationship Id="rId5" Target="../media/image48.jpeg" Type="http://schemas.openxmlformats.org/officeDocument/2006/relationships/image"/><Relationship Id="rId6" Target="../media/image49.jpeg" Type="http://schemas.openxmlformats.org/officeDocument/2006/relationships/image"/><Relationship Id="rId7" Target="../media/image50.jpeg" Type="http://schemas.openxmlformats.org/officeDocument/2006/relationships/image"/><Relationship Id="rId8" Target="../media/image5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52.png" Type="http://schemas.openxmlformats.org/officeDocument/2006/relationships/image"/><Relationship Id="rId4" Target="../media/image5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54.png" Type="http://schemas.openxmlformats.org/officeDocument/2006/relationships/image"/><Relationship Id="rId4" Target="../media/image5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jpeg" Type="http://schemas.openxmlformats.org/officeDocument/2006/relationships/image"/><Relationship Id="rId6" Target="../media/image56.png" Type="http://schemas.openxmlformats.org/officeDocument/2006/relationships/image"/><Relationship Id="rId7" Target="../media/image57.jpe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png" Type="http://schemas.openxmlformats.org/officeDocument/2006/relationships/image"/><Relationship Id="rId11" Target="../media/image67.png" Type="http://schemas.openxmlformats.org/officeDocument/2006/relationships/image"/><Relationship Id="rId12" Target="../media/image68.png" Type="http://schemas.openxmlformats.org/officeDocument/2006/relationships/image"/><Relationship Id="rId13" Target="../media/image69.png" Type="http://schemas.openxmlformats.org/officeDocument/2006/relationships/image"/><Relationship Id="rId14" Target="../media/image70.png" Type="http://schemas.openxmlformats.org/officeDocument/2006/relationships/image"/><Relationship Id="rId15" Target="../media/image71.png" Type="http://schemas.openxmlformats.org/officeDocument/2006/relationships/image"/><Relationship Id="rId16" Target="../media/image72.png" Type="http://schemas.openxmlformats.org/officeDocument/2006/relationships/image"/><Relationship Id="rId17" Target="../media/image73.pn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60.png" Type="http://schemas.openxmlformats.org/officeDocument/2006/relationships/image"/><Relationship Id="rId4" Target="../media/image2.png" Type="http://schemas.openxmlformats.org/officeDocument/2006/relationships/image"/><Relationship Id="rId5" Target="../media/image61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0.jpeg" Type="http://schemas.openxmlformats.org/officeDocument/2006/relationships/image"/><Relationship Id="rId4" Target="../media/image2.png" Type="http://schemas.openxmlformats.org/officeDocument/2006/relationships/image"/><Relationship Id="rId5" Target="../media/image7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0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2.png" Type="http://schemas.openxmlformats.org/officeDocument/2006/relationships/image"/><Relationship Id="rId7" Target="../media/image13.png" Type="http://schemas.openxmlformats.org/officeDocument/2006/relationships/image"/><Relationship Id="rId8" Target="../media/image7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10.jpeg" Type="http://schemas.openxmlformats.org/officeDocument/2006/relationships/image"/><Relationship Id="rId4" Target="../media/image12.png" Type="http://schemas.openxmlformats.org/officeDocument/2006/relationships/image"/><Relationship Id="rId5" Target="../media/image2.png" Type="http://schemas.openxmlformats.org/officeDocument/2006/relationships/image"/><Relationship Id="rId6" Target="../media/image13.png" Type="http://schemas.openxmlformats.org/officeDocument/2006/relationships/image"/><Relationship Id="rId7" Target="../media/image11.png" Type="http://schemas.openxmlformats.org/officeDocument/2006/relationships/image"/><Relationship Id="rId8" Target="../media/image7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77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172" r="0" b="-91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931201" y="909361"/>
            <a:ext cx="2425494" cy="2468747"/>
            <a:chOff x="0" y="0"/>
            <a:chExt cx="3233992" cy="32916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34055" cy="3291713"/>
            </a:xfrm>
            <a:custGeom>
              <a:avLst/>
              <a:gdLst/>
              <a:ahLst/>
              <a:cxnLst/>
              <a:rect r="r" b="b" t="t" l="l"/>
              <a:pathLst>
                <a:path h="3291713" w="3234055">
                  <a:moveTo>
                    <a:pt x="0" y="0"/>
                  </a:moveTo>
                  <a:lnTo>
                    <a:pt x="3234055" y="0"/>
                  </a:lnTo>
                  <a:lnTo>
                    <a:pt x="3234055" y="3291713"/>
                  </a:lnTo>
                  <a:lnTo>
                    <a:pt x="0" y="3291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" r="1" b="-5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520760" y="7157380"/>
            <a:ext cx="1246442" cy="1209104"/>
            <a:chOff x="0" y="0"/>
            <a:chExt cx="1661922" cy="16121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1922" cy="1612138"/>
            </a:xfrm>
            <a:custGeom>
              <a:avLst/>
              <a:gdLst/>
              <a:ahLst/>
              <a:cxnLst/>
              <a:rect r="r" b="b" t="t" l="l"/>
              <a:pathLst>
                <a:path h="1612138" w="1661922">
                  <a:moveTo>
                    <a:pt x="0" y="0"/>
                  </a:moveTo>
                  <a:lnTo>
                    <a:pt x="1661922" y="0"/>
                  </a:lnTo>
                  <a:lnTo>
                    <a:pt x="1661922" y="1612138"/>
                  </a:lnTo>
                  <a:lnTo>
                    <a:pt x="0" y="1612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7" t="0" r="-18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-253155"/>
            <a:ext cx="18288000" cy="933450"/>
            <a:chOff x="0" y="0"/>
            <a:chExt cx="24384000" cy="1244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44600"/>
                  </a:lnTo>
                  <a:lnTo>
                    <a:pt x="0" y="124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638246" y="3169015"/>
            <a:ext cx="9011402" cy="126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26"/>
              </a:lnSpc>
            </a:pPr>
            <a:r>
              <a:rPr lang="en-US" sz="5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WEB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38246" y="8390572"/>
            <a:ext cx="9011402" cy="63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2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Fecha: 20 de Agosto de 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41581" y="3574647"/>
            <a:ext cx="12804896" cy="231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51"/>
              </a:lnSpc>
            </a:pPr>
            <a:r>
              <a:rPr lang="en-US" b="true" sz="999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TODOFREAKSTORE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38246" y="5644344"/>
            <a:ext cx="9011507" cy="1183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61"/>
              </a:lnSpc>
            </a:pPr>
            <a:r>
              <a:rPr lang="en-US" b="true" sz="289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 - Gustavo Góngora - Miguel Astorga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832053" y="38071"/>
            <a:ext cx="3841147" cy="642271"/>
            <a:chOff x="0" y="0"/>
            <a:chExt cx="5121529" cy="85636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898" r="0" b="-89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855085" y="8907304"/>
            <a:ext cx="4577848" cy="6379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8"/>
              </a:lnSpc>
            </a:pPr>
            <a:r>
              <a:rPr lang="en-US" b="true" sz="24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Docente: Mauricio Figueroa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170FF">
                <a:alpha val="100000"/>
              </a:srgbClr>
            </a:gs>
            <a:gs pos="100000">
              <a:srgbClr val="FF66C4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2636" y="5314426"/>
            <a:ext cx="2397157" cy="2439448"/>
            <a:chOff x="0" y="0"/>
            <a:chExt cx="3196209" cy="32525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96209" cy="3252597"/>
            </a:xfrm>
            <a:custGeom>
              <a:avLst/>
              <a:gdLst/>
              <a:ahLst/>
              <a:cxnLst/>
              <a:rect r="r" b="b" t="t" l="l"/>
              <a:pathLst>
                <a:path h="3252597" w="3196209">
                  <a:moveTo>
                    <a:pt x="0" y="0"/>
                  </a:moveTo>
                  <a:lnTo>
                    <a:pt x="3196209" y="0"/>
                  </a:lnTo>
                  <a:lnTo>
                    <a:pt x="3196209" y="3252597"/>
                  </a:lnTo>
                  <a:lnTo>
                    <a:pt x="0" y="32525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62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378748" y="3794446"/>
            <a:ext cx="11715940" cy="4079843"/>
            <a:chOff x="0" y="0"/>
            <a:chExt cx="15621254" cy="54397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621254" cy="5439791"/>
            </a:xfrm>
            <a:custGeom>
              <a:avLst/>
              <a:gdLst/>
              <a:ahLst/>
              <a:cxnLst/>
              <a:rect r="r" b="b" t="t" l="l"/>
              <a:pathLst>
                <a:path h="5439791" w="15621254">
                  <a:moveTo>
                    <a:pt x="0" y="0"/>
                  </a:moveTo>
                  <a:lnTo>
                    <a:pt x="15621254" y="0"/>
                  </a:lnTo>
                  <a:lnTo>
                    <a:pt x="15621254" y="5439791"/>
                  </a:lnTo>
                  <a:lnTo>
                    <a:pt x="0" y="5439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3" r="0" b="-3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659669" y="4041286"/>
            <a:ext cx="3326702" cy="3429572"/>
            <a:chOff x="0" y="0"/>
            <a:chExt cx="4435602" cy="457276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35602" cy="4572762"/>
            </a:xfrm>
            <a:custGeom>
              <a:avLst/>
              <a:gdLst/>
              <a:ahLst/>
              <a:cxnLst/>
              <a:rect r="r" b="b" t="t" l="l"/>
              <a:pathLst>
                <a:path h="4572762" w="4435602">
                  <a:moveTo>
                    <a:pt x="0" y="0"/>
                  </a:moveTo>
                  <a:lnTo>
                    <a:pt x="4435602" y="0"/>
                  </a:lnTo>
                  <a:lnTo>
                    <a:pt x="4435602" y="4572762"/>
                  </a:lnTo>
                  <a:lnTo>
                    <a:pt x="0" y="4572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9" r="0" b="-4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576920" y="4077014"/>
            <a:ext cx="3322701" cy="3425476"/>
            <a:chOff x="0" y="0"/>
            <a:chExt cx="4430268" cy="45673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30268" cy="4567301"/>
            </a:xfrm>
            <a:custGeom>
              <a:avLst/>
              <a:gdLst/>
              <a:ahLst/>
              <a:cxnLst/>
              <a:rect r="r" b="b" t="t" l="l"/>
              <a:pathLst>
                <a:path h="4567301" w="4430268">
                  <a:moveTo>
                    <a:pt x="0" y="0"/>
                  </a:moveTo>
                  <a:lnTo>
                    <a:pt x="4430268" y="0"/>
                  </a:lnTo>
                  <a:lnTo>
                    <a:pt x="4430268" y="4567301"/>
                  </a:lnTo>
                  <a:lnTo>
                    <a:pt x="0" y="4567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" r="0" b="-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485849" y="4052258"/>
            <a:ext cx="3322701" cy="3425476"/>
            <a:chOff x="0" y="0"/>
            <a:chExt cx="4430268" cy="45673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30268" cy="4567301"/>
            </a:xfrm>
            <a:custGeom>
              <a:avLst/>
              <a:gdLst/>
              <a:ahLst/>
              <a:cxnLst/>
              <a:rect r="r" b="b" t="t" l="l"/>
              <a:pathLst>
                <a:path h="4567301" w="4430268">
                  <a:moveTo>
                    <a:pt x="0" y="0"/>
                  </a:moveTo>
                  <a:lnTo>
                    <a:pt x="4430268" y="0"/>
                  </a:lnTo>
                  <a:lnTo>
                    <a:pt x="4430268" y="4567301"/>
                  </a:lnTo>
                  <a:lnTo>
                    <a:pt x="0" y="45673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48" r="0" b="-48"/>
              </a:stretch>
            </a:blipFill>
          </p:spPr>
        </p:sp>
      </p:grpSp>
      <p:sp>
        <p:nvSpPr>
          <p:cNvPr name="AutoShape 12" id="12"/>
          <p:cNvSpPr/>
          <p:nvPr/>
        </p:nvSpPr>
        <p:spPr>
          <a:xfrm rot="6780">
            <a:off x="-536686" y="947738"/>
            <a:ext cx="19361382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12941" y="3717141"/>
            <a:ext cx="3884676" cy="1417892"/>
            <a:chOff x="0" y="0"/>
            <a:chExt cx="5179568" cy="18905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79568" cy="1890522"/>
            </a:xfrm>
            <a:custGeom>
              <a:avLst/>
              <a:gdLst/>
              <a:ahLst/>
              <a:cxnLst/>
              <a:rect r="r" b="b" t="t" l="l"/>
              <a:pathLst>
                <a:path h="1890522" w="5179568">
                  <a:moveTo>
                    <a:pt x="0" y="0"/>
                  </a:moveTo>
                  <a:lnTo>
                    <a:pt x="5179568" y="0"/>
                  </a:lnTo>
                  <a:lnTo>
                    <a:pt x="5179568" y="1890522"/>
                  </a:lnTo>
                  <a:lnTo>
                    <a:pt x="0" y="18905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4" t="0" r="-24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590253" y="3919342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Contexto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90253" y="488640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Problema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90253" y="5825857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Necesidad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90253" y="673657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Solución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453030" y="4022541"/>
            <a:ext cx="2395204" cy="57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2"/>
              </a:lnSpc>
            </a:pPr>
            <a:r>
              <a:rPr lang="en-US" b="true" sz="2283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Requerimientos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387584" y="4896879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Épicas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7593" y="579064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Historias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387593" y="6700761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Arquitectura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431548" y="3975059"/>
            <a:ext cx="1912739" cy="627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Metodología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27500" y="482069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Evidencias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427538" y="5790648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Cronograma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427557" y="6747072"/>
            <a:ext cx="2279399" cy="63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81"/>
              </a:lnSpc>
            </a:pPr>
            <a:r>
              <a:rPr lang="en-US" b="true" sz="255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Conclusiones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69875" y="3900292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9827" y="479114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769550" y="5771598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69827" y="6660709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688174" y="3941474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688183" y="4867351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688193" y="5796305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88193" y="673194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606797" y="3984450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09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06864" y="4867327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06864" y="5761096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4606864" y="6717521"/>
            <a:ext cx="429901" cy="671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75"/>
              </a:lnSpc>
            </a:pPr>
            <a:r>
              <a:rPr lang="en-US" b="true" sz="269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3710" y="1365285"/>
            <a:ext cx="16980598" cy="1780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93"/>
              </a:lnSpc>
            </a:pPr>
            <a:r>
              <a:rPr lang="en-US" b="true" sz="5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TABLA DE CONTENIDOS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-2652855" y="-358892"/>
            <a:ext cx="22575298" cy="1152334"/>
            <a:chOff x="0" y="0"/>
            <a:chExt cx="30100397" cy="153644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00398" cy="1536446"/>
            </a:xfrm>
            <a:custGeom>
              <a:avLst/>
              <a:gdLst/>
              <a:ahLst/>
              <a:cxnLst/>
              <a:rect r="r" b="b" t="t" l="l"/>
              <a:pathLst>
                <a:path h="1536446" w="30100398">
                  <a:moveTo>
                    <a:pt x="0" y="0"/>
                  </a:moveTo>
                  <a:lnTo>
                    <a:pt x="30100398" y="0"/>
                  </a:lnTo>
                  <a:lnTo>
                    <a:pt x="30100398" y="1536446"/>
                  </a:lnTo>
                  <a:lnTo>
                    <a:pt x="0" y="1536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" t="0" r="-2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67403" y="100689"/>
            <a:ext cx="3841147" cy="642271"/>
            <a:chOff x="0" y="0"/>
            <a:chExt cx="5121529" cy="85636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98" r="0" b="-898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1145160">
            <a:off x="3789283" y="4321226"/>
            <a:ext cx="2153888" cy="3026283"/>
            <a:chOff x="0" y="0"/>
            <a:chExt cx="2871851" cy="403504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871851" cy="4035044"/>
            </a:xfrm>
            <a:custGeom>
              <a:avLst/>
              <a:gdLst/>
              <a:ahLst/>
              <a:cxnLst/>
              <a:rect r="r" b="b" t="t" l="l"/>
              <a:pathLst>
                <a:path h="4035044" w="2871851">
                  <a:moveTo>
                    <a:pt x="0" y="0"/>
                  </a:moveTo>
                  <a:lnTo>
                    <a:pt x="2871851" y="0"/>
                  </a:lnTo>
                  <a:lnTo>
                    <a:pt x="2871851" y="4035044"/>
                  </a:lnTo>
                  <a:lnTo>
                    <a:pt x="0" y="4035044"/>
                  </a:lnTo>
                  <a:close/>
                </a:path>
              </a:pathLst>
            </a:custGeom>
            <a:blipFill>
              <a:blip r:embed="rId9"/>
              <a:stretch>
                <a:fillRect l="-20251" t="0" r="-20251" b="0"/>
              </a:stretch>
            </a:blipFill>
          </p:spPr>
        </p:sp>
      </p:grpSp>
      <p:sp>
        <p:nvSpPr>
          <p:cNvPr name="AutoShape 47" id="47"/>
          <p:cNvSpPr/>
          <p:nvPr/>
        </p:nvSpPr>
        <p:spPr>
          <a:xfrm rot="6780">
            <a:off x="-42910" y="8921029"/>
            <a:ext cx="19361382" cy="0"/>
          </a:xfrm>
          <a:prstGeom prst="line">
            <a:avLst/>
          </a:prstGeom>
          <a:ln cap="rnd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7573" y="4460129"/>
            <a:ext cx="9497663" cy="5193963"/>
            <a:chOff x="0" y="0"/>
            <a:chExt cx="12663551" cy="69252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63551" cy="6925310"/>
            </a:xfrm>
            <a:custGeom>
              <a:avLst/>
              <a:gdLst/>
              <a:ahLst/>
              <a:cxnLst/>
              <a:rect r="r" b="b" t="t" l="l"/>
              <a:pathLst>
                <a:path h="6925310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925310"/>
                  </a:lnTo>
                  <a:lnTo>
                    <a:pt x="0" y="6925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11" r="0" b="-171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69773" y="5697969"/>
            <a:ext cx="3687890" cy="3753517"/>
            <a:chOff x="0" y="0"/>
            <a:chExt cx="4917186" cy="5004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1455" y="825494"/>
            <a:ext cx="714470" cy="714470"/>
            <a:chOff x="0" y="0"/>
            <a:chExt cx="952627" cy="952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707573" y="3839547"/>
            <a:ext cx="9434341" cy="2860548"/>
            <a:chOff x="0" y="0"/>
            <a:chExt cx="12579121" cy="3814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79096" cy="3814064"/>
            </a:xfrm>
            <a:custGeom>
              <a:avLst/>
              <a:gdLst/>
              <a:ahLst/>
              <a:cxnLst/>
              <a:rect r="r" b="b" t="t" l="l"/>
              <a:pathLst>
                <a:path h="3814064" w="12579096">
                  <a:moveTo>
                    <a:pt x="0" y="0"/>
                  </a:moveTo>
                  <a:lnTo>
                    <a:pt x="12579096" y="0"/>
                  </a:lnTo>
                  <a:lnTo>
                    <a:pt x="12579096" y="3814064"/>
                  </a:lnTo>
                  <a:lnTo>
                    <a:pt x="0" y="3814064"/>
                  </a:lnTo>
                  <a:close/>
                </a:path>
              </a:pathLst>
            </a:custGeom>
            <a:blipFill>
              <a:blip r:embed="rId8"/>
              <a:stretch>
                <a:fillRect l="-3923" t="0" r="-3924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707582" y="2155012"/>
            <a:ext cx="6874669" cy="1484471"/>
            <a:chOff x="0" y="0"/>
            <a:chExt cx="9166225" cy="197929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66225" cy="1979295"/>
            </a:xfrm>
            <a:custGeom>
              <a:avLst/>
              <a:gdLst/>
              <a:ahLst/>
              <a:cxnLst/>
              <a:rect r="r" b="b" t="t" l="l"/>
              <a:pathLst>
                <a:path h="1979295" w="9166225">
                  <a:moveTo>
                    <a:pt x="0" y="0"/>
                  </a:moveTo>
                  <a:lnTo>
                    <a:pt x="9166225" y="0"/>
                  </a:lnTo>
                  <a:lnTo>
                    <a:pt x="9166225" y="1979295"/>
                  </a:lnTo>
                  <a:lnTo>
                    <a:pt x="0" y="19792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80963" r="0" b="-8096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033356" y="2436990"/>
            <a:ext cx="877538" cy="877538"/>
            <a:chOff x="0" y="0"/>
            <a:chExt cx="1170051" cy="11700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0051" cy="1170051"/>
            </a:xfrm>
            <a:custGeom>
              <a:avLst/>
              <a:gdLst/>
              <a:ahLst/>
              <a:cxnLst/>
              <a:rect r="r" b="b" t="t" l="l"/>
              <a:pathLst>
                <a:path h="1170051" w="1170051">
                  <a:moveTo>
                    <a:pt x="0" y="0"/>
                  </a:moveTo>
                  <a:lnTo>
                    <a:pt x="1170051" y="0"/>
                  </a:lnTo>
                  <a:lnTo>
                    <a:pt x="1170051" y="1170051"/>
                  </a:lnTo>
                  <a:lnTo>
                    <a:pt x="0" y="117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105819" y="2325434"/>
            <a:ext cx="1100614" cy="1100614"/>
            <a:chOff x="0" y="0"/>
            <a:chExt cx="1467485" cy="146748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7485" cy="1467485"/>
            </a:xfrm>
            <a:custGeom>
              <a:avLst/>
              <a:gdLst/>
              <a:ahLst/>
              <a:cxnLst/>
              <a:rect r="r" b="b" t="t" l="l"/>
              <a:pathLst>
                <a:path h="1467485" w="1467485">
                  <a:moveTo>
                    <a:pt x="0" y="0"/>
                  </a:moveTo>
                  <a:lnTo>
                    <a:pt x="1467485" y="0"/>
                  </a:lnTo>
                  <a:lnTo>
                    <a:pt x="1467485" y="1467485"/>
                  </a:lnTo>
                  <a:lnTo>
                    <a:pt x="0" y="1467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951701" y="6837693"/>
            <a:ext cx="5604300" cy="53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TIENDA DE OPERACIÓN FÍSICA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1606" y="3296774"/>
            <a:ext cx="5604196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CONTEXTO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25133" y="7762751"/>
            <a:ext cx="8518798" cy="1515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5"/>
              </a:lnSpc>
            </a:pPr>
            <a:r>
              <a:rPr lang="en-US" sz="19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Operación Física Exclusiva: Tienda Todo FreakStore enfocada en la cultura geek y productos TCG, operando únicamente con venta presencial e inventario en papel/físico.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37007" y="4756252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23914" y="705850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251528" y="2200065"/>
            <a:ext cx="13158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>
                <a:solidFill>
                  <a:srgbClr val="000000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CLIENTE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51528" y="2571550"/>
            <a:ext cx="3511496" cy="954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 i="true">
                <a:solidFill>
                  <a:srgbClr val="000000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Cesar Quintana Trujillo</a:t>
            </a:r>
          </a:p>
          <a:p>
            <a:pPr algn="l">
              <a:lnSpc>
                <a:spcPts val="3110"/>
              </a:lnSpc>
            </a:pPr>
            <a:r>
              <a:rPr lang="en-US" b="true" sz="1800" i="true">
                <a:solidFill>
                  <a:srgbClr val="FF3131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Dueño de Tienda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00834" y="7250868"/>
            <a:ext cx="2467204" cy="446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b="true" sz="2099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316198" y="5077149"/>
            <a:ext cx="4156424" cy="1962817"/>
            <a:chOff x="0" y="0"/>
            <a:chExt cx="5541899" cy="26170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541899" cy="2617089"/>
            </a:xfrm>
            <a:custGeom>
              <a:avLst/>
              <a:gdLst/>
              <a:ahLst/>
              <a:cxnLst/>
              <a:rect r="r" b="b" t="t" l="l"/>
              <a:pathLst>
                <a:path h="2617089" w="5541899">
                  <a:moveTo>
                    <a:pt x="0" y="0"/>
                  </a:moveTo>
                  <a:lnTo>
                    <a:pt x="5541899" y="0"/>
                  </a:lnTo>
                  <a:lnTo>
                    <a:pt x="5541899" y="2617089"/>
                  </a:lnTo>
                  <a:lnTo>
                    <a:pt x="0" y="26170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104" r="0" b="-4010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71716" y="5077149"/>
            <a:ext cx="4546092" cy="1941290"/>
            <a:chOff x="0" y="0"/>
            <a:chExt cx="6061456" cy="25883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61456" cy="2588387"/>
            </a:xfrm>
            <a:custGeom>
              <a:avLst/>
              <a:gdLst/>
              <a:ahLst/>
              <a:cxnLst/>
              <a:rect r="r" b="b" t="t" l="l"/>
              <a:pathLst>
                <a:path h="2588387" w="6061456">
                  <a:moveTo>
                    <a:pt x="0" y="0"/>
                  </a:moveTo>
                  <a:lnTo>
                    <a:pt x="6061456" y="0"/>
                  </a:lnTo>
                  <a:lnTo>
                    <a:pt x="6061456" y="2588387"/>
                  </a:lnTo>
                  <a:lnTo>
                    <a:pt x="0" y="25883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9644" r="0" b="-4964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9" id="9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69773" y="5721763"/>
            <a:ext cx="3687890" cy="3753517"/>
            <a:chOff x="0" y="0"/>
            <a:chExt cx="4917186" cy="50046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1455" y="673094"/>
            <a:ext cx="714470" cy="714470"/>
            <a:chOff x="0" y="0"/>
            <a:chExt cx="952627" cy="95262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037756" y="5378253"/>
            <a:ext cx="757523" cy="757523"/>
            <a:chOff x="0" y="0"/>
            <a:chExt cx="1010031" cy="10100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0031" cy="1010031"/>
            </a:xfrm>
            <a:custGeom>
              <a:avLst/>
              <a:gdLst/>
              <a:ahLst/>
              <a:cxnLst/>
              <a:rect r="r" b="b" t="t" l="l"/>
              <a:pathLst>
                <a:path h="1010031" w="1010031">
                  <a:moveTo>
                    <a:pt x="0" y="0"/>
                  </a:moveTo>
                  <a:lnTo>
                    <a:pt x="1010031" y="0"/>
                  </a:lnTo>
                  <a:lnTo>
                    <a:pt x="1010031" y="1010031"/>
                  </a:lnTo>
                  <a:lnTo>
                    <a:pt x="0" y="1010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21916" y="5275764"/>
            <a:ext cx="860012" cy="860012"/>
            <a:chOff x="0" y="0"/>
            <a:chExt cx="1146683" cy="11466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6683" cy="1146683"/>
            </a:xfrm>
            <a:custGeom>
              <a:avLst/>
              <a:gdLst/>
              <a:ahLst/>
              <a:cxnLst/>
              <a:rect r="r" b="b" t="t" l="l"/>
              <a:pathLst>
                <a:path h="1146683" w="1146683">
                  <a:moveTo>
                    <a:pt x="0" y="0"/>
                  </a:moveTo>
                  <a:lnTo>
                    <a:pt x="1146683" y="0"/>
                  </a:lnTo>
                  <a:lnTo>
                    <a:pt x="1146683" y="1146683"/>
                  </a:lnTo>
                  <a:lnTo>
                    <a:pt x="0" y="11466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471716" y="1471953"/>
            <a:ext cx="5358660" cy="3240608"/>
            <a:chOff x="0" y="0"/>
            <a:chExt cx="7144880" cy="43208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44881" cy="4320811"/>
            </a:xfrm>
            <a:custGeom>
              <a:avLst/>
              <a:gdLst/>
              <a:ahLst/>
              <a:cxnLst/>
              <a:rect r="r" b="b" t="t" l="l"/>
              <a:pathLst>
                <a:path h="4320811" w="7144881">
                  <a:moveTo>
                    <a:pt x="0" y="0"/>
                  </a:moveTo>
                  <a:lnTo>
                    <a:pt x="7144881" y="0"/>
                  </a:lnTo>
                  <a:lnTo>
                    <a:pt x="7144881" y="4320811"/>
                  </a:lnTo>
                  <a:lnTo>
                    <a:pt x="0" y="4320811"/>
                  </a:lnTo>
                  <a:close/>
                </a:path>
              </a:pathLst>
            </a:custGeom>
            <a:blipFill>
              <a:blip r:embed="rId10"/>
              <a:stretch>
                <a:fillRect l="-3775" t="0" r="-377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3830376" y="1387564"/>
            <a:ext cx="3642265" cy="3324997"/>
            <a:chOff x="0" y="0"/>
            <a:chExt cx="4856353" cy="44333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856353" cy="4433329"/>
            </a:xfrm>
            <a:custGeom>
              <a:avLst/>
              <a:gdLst/>
              <a:ahLst/>
              <a:cxnLst/>
              <a:rect r="r" b="b" t="t" l="l"/>
              <a:pathLst>
                <a:path h="4433329" w="4856353">
                  <a:moveTo>
                    <a:pt x="0" y="0"/>
                  </a:moveTo>
                  <a:lnTo>
                    <a:pt x="4856353" y="0"/>
                  </a:lnTo>
                  <a:lnTo>
                    <a:pt x="4856353" y="4433329"/>
                  </a:lnTo>
                  <a:lnTo>
                    <a:pt x="0" y="4433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0702" t="0" r="-3070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316198" y="7125700"/>
            <a:ext cx="4156424" cy="2146011"/>
            <a:chOff x="0" y="0"/>
            <a:chExt cx="5541899" cy="286134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41899" cy="2861310"/>
            </a:xfrm>
            <a:custGeom>
              <a:avLst/>
              <a:gdLst/>
              <a:ahLst/>
              <a:cxnLst/>
              <a:rect r="r" b="b" t="t" l="l"/>
              <a:pathLst>
                <a:path h="2861310" w="5541899">
                  <a:moveTo>
                    <a:pt x="0" y="0"/>
                  </a:moveTo>
                  <a:lnTo>
                    <a:pt x="5541899" y="0"/>
                  </a:lnTo>
                  <a:lnTo>
                    <a:pt x="5541899" y="2861310"/>
                  </a:lnTo>
                  <a:lnTo>
                    <a:pt x="0" y="2861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413" r="0" b="-3241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471726" y="7125700"/>
            <a:ext cx="4546092" cy="2148364"/>
            <a:chOff x="0" y="0"/>
            <a:chExt cx="6061456" cy="28644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61456" cy="2864485"/>
            </a:xfrm>
            <a:custGeom>
              <a:avLst/>
              <a:gdLst/>
              <a:ahLst/>
              <a:cxnLst/>
              <a:rect r="r" b="b" t="t" l="l"/>
              <a:pathLst>
                <a:path h="2864485" w="6061456">
                  <a:moveTo>
                    <a:pt x="0" y="0"/>
                  </a:moveTo>
                  <a:lnTo>
                    <a:pt x="6061456" y="0"/>
                  </a:lnTo>
                  <a:lnTo>
                    <a:pt x="6061456" y="2864485"/>
                  </a:lnTo>
                  <a:lnTo>
                    <a:pt x="0" y="2864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040" r="0" b="-4004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178939" y="7375560"/>
            <a:ext cx="945928" cy="785146"/>
            <a:chOff x="0" y="0"/>
            <a:chExt cx="1261237" cy="10468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61237" cy="1046861"/>
            </a:xfrm>
            <a:custGeom>
              <a:avLst/>
              <a:gdLst/>
              <a:ahLst/>
              <a:cxnLst/>
              <a:rect r="r" b="b" t="t" l="l"/>
              <a:pathLst>
                <a:path h="1046861" w="1261237">
                  <a:moveTo>
                    <a:pt x="0" y="0"/>
                  </a:moveTo>
                  <a:lnTo>
                    <a:pt x="1261237" y="0"/>
                  </a:lnTo>
                  <a:lnTo>
                    <a:pt x="1261237" y="1046861"/>
                  </a:lnTo>
                  <a:lnTo>
                    <a:pt x="0" y="10468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523" t="0" r="-523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037756" y="7375560"/>
            <a:ext cx="852964" cy="883920"/>
            <a:chOff x="0" y="0"/>
            <a:chExt cx="1137285" cy="11785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37285" cy="1178560"/>
            </a:xfrm>
            <a:custGeom>
              <a:avLst/>
              <a:gdLst/>
              <a:ahLst/>
              <a:cxnLst/>
              <a:rect r="r" b="b" t="t" l="l"/>
              <a:pathLst>
                <a:path h="1178560" w="1137285">
                  <a:moveTo>
                    <a:pt x="0" y="0"/>
                  </a:moveTo>
                  <a:lnTo>
                    <a:pt x="1137285" y="0"/>
                  </a:lnTo>
                  <a:lnTo>
                    <a:pt x="1137285" y="1178560"/>
                  </a:lnTo>
                  <a:lnTo>
                    <a:pt x="0" y="11785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159" r="0" b="-15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3648325" y="6081522"/>
            <a:ext cx="353638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INVISIBILIDAD COMERCIAL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672132" y="6125508"/>
            <a:ext cx="395959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GESTIÓN MANUAL E INEFICIENTE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3357448"/>
            <a:ext cx="5604196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PROBLEMA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48567" y="4809487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23914" y="551812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7294952" y="9195521"/>
            <a:ext cx="395402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075264" y="2620270"/>
            <a:ext cx="3219698" cy="188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5"/>
              </a:lnSpc>
            </a:pPr>
            <a:r>
              <a:rPr lang="en-US" sz="1898" i="true">
                <a:solidFill>
                  <a:srgbClr val="FFFFFF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Local comercial poco visible y oculto al público general, con escaso flujo peatonal directo.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50417" y="1497861"/>
            <a:ext cx="3642236" cy="960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UBICACIÓN DESFAVORABLE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696045" y="8174803"/>
            <a:ext cx="348866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PROCESOS AUTOMATIZADOS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764953" y="8174803"/>
            <a:ext cx="395959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FALTA DE SISTEMA DE VENTAS </a:t>
            </a:r>
          </a:p>
          <a:p>
            <a:pPr algn="ctr">
              <a:lnSpc>
                <a:spcPts val="3282"/>
              </a:lnSpc>
            </a:pPr>
            <a:r>
              <a:rPr lang="en-US" b="true" sz="18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EN LINEA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B3D59">
                    <a:alpha val="100000"/>
                  </a:srgbClr>
                </a:gs>
                <a:gs pos="100000">
                  <a:srgbClr val="03060C">
                    <a:alpha val="100000"/>
                  </a:srgbClr>
                </a:gs>
              </a:gsLst>
              <a:path path="circle">
                <a:fillToRect l="100100" r="-100" t="100100" b="-100"/>
              </a:path>
              <a:tileRect r="-100200" l="0" b="-100200" t="0"/>
            </a:gradFill>
          </p:spPr>
        </p:sp>
      </p:grpSp>
      <p:grpSp>
        <p:nvGrpSpPr>
          <p:cNvPr name="Group 4" id="4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69773" y="5844578"/>
            <a:ext cx="3687890" cy="3753517"/>
            <a:chOff x="0" y="0"/>
            <a:chExt cx="4917186" cy="5004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1455" y="826284"/>
            <a:ext cx="714470" cy="714470"/>
            <a:chOff x="0" y="0"/>
            <a:chExt cx="952627" cy="952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920603" y="350196"/>
            <a:ext cx="7367397" cy="1239383"/>
            <a:chOff x="0" y="0"/>
            <a:chExt cx="9823196" cy="16525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23196" cy="1652524"/>
            </a:xfrm>
            <a:custGeom>
              <a:avLst/>
              <a:gdLst/>
              <a:ahLst/>
              <a:cxnLst/>
              <a:rect r="r" b="b" t="t" l="l"/>
              <a:pathLst>
                <a:path h="1652524" w="9823196">
                  <a:moveTo>
                    <a:pt x="0" y="0"/>
                  </a:moveTo>
                  <a:lnTo>
                    <a:pt x="9823196" y="0"/>
                  </a:lnTo>
                  <a:lnTo>
                    <a:pt x="9823196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" t="0" r="-1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11463" y="1795415"/>
            <a:ext cx="9176537" cy="1494434"/>
            <a:chOff x="0" y="0"/>
            <a:chExt cx="12235383" cy="1992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396945" y="974912"/>
            <a:ext cx="1869567" cy="2992184"/>
            <a:chOff x="0" y="0"/>
            <a:chExt cx="2492756" cy="39895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92756" cy="3989578"/>
            </a:xfrm>
            <a:custGeom>
              <a:avLst/>
              <a:gdLst/>
              <a:ahLst/>
              <a:cxnLst/>
              <a:rect r="r" b="b" t="t" l="l"/>
              <a:pathLst>
                <a:path h="3989578" w="2492756">
                  <a:moveTo>
                    <a:pt x="0" y="0"/>
                  </a:moveTo>
                  <a:lnTo>
                    <a:pt x="2492756" y="0"/>
                  </a:lnTo>
                  <a:lnTo>
                    <a:pt x="2492756" y="3989578"/>
                  </a:lnTo>
                  <a:lnTo>
                    <a:pt x="0" y="3989578"/>
                  </a:lnTo>
                  <a:close/>
                </a:path>
              </a:pathLst>
            </a:custGeom>
            <a:blipFill>
              <a:blip r:embed="rId8"/>
              <a:stretch>
                <a:fillRect l="0" t="-3915" r="0" b="-391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71165" y="3676660"/>
            <a:ext cx="7516835" cy="1329738"/>
            <a:chOff x="0" y="0"/>
            <a:chExt cx="10022446" cy="177298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022459" cy="1772920"/>
            </a:xfrm>
            <a:custGeom>
              <a:avLst/>
              <a:gdLst/>
              <a:ahLst/>
              <a:cxnLst/>
              <a:rect r="r" b="b" t="t" l="l"/>
              <a:pathLst>
                <a:path h="1772920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772920"/>
                  </a:lnTo>
                  <a:lnTo>
                    <a:pt x="0" y="177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51" r="0" b="-156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0" y="5212223"/>
            <a:ext cx="9176537" cy="1494434"/>
            <a:chOff x="0" y="0"/>
            <a:chExt cx="12235383" cy="19925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66513" y="2070297"/>
            <a:ext cx="1030510" cy="984123"/>
            <a:chOff x="0" y="0"/>
            <a:chExt cx="1374013" cy="13121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4013" cy="1312164"/>
            </a:xfrm>
            <a:custGeom>
              <a:avLst/>
              <a:gdLst/>
              <a:ahLst/>
              <a:cxnLst/>
              <a:rect r="r" b="b" t="t" l="l"/>
              <a:pathLst>
                <a:path h="1312164" w="1374013">
                  <a:moveTo>
                    <a:pt x="0" y="0"/>
                  </a:moveTo>
                  <a:lnTo>
                    <a:pt x="1374013" y="0"/>
                  </a:lnTo>
                  <a:lnTo>
                    <a:pt x="1374013" y="1312164"/>
                  </a:lnTo>
                  <a:lnTo>
                    <a:pt x="0" y="1312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30" r="0" b="-3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-1068360">
            <a:off x="8087335" y="4203249"/>
            <a:ext cx="1560481" cy="2082546"/>
            <a:chOff x="0" y="0"/>
            <a:chExt cx="2080641" cy="27767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080641" cy="2776728"/>
            </a:xfrm>
            <a:custGeom>
              <a:avLst/>
              <a:gdLst/>
              <a:ahLst/>
              <a:cxnLst/>
              <a:rect r="r" b="b" t="t" l="l"/>
              <a:pathLst>
                <a:path h="2776728" w="2080641">
                  <a:moveTo>
                    <a:pt x="0" y="0"/>
                  </a:moveTo>
                  <a:lnTo>
                    <a:pt x="2080641" y="0"/>
                  </a:lnTo>
                  <a:lnTo>
                    <a:pt x="2080641" y="2776728"/>
                  </a:lnTo>
                  <a:lnTo>
                    <a:pt x="0" y="2776728"/>
                  </a:lnTo>
                  <a:close/>
                </a:path>
              </a:pathLst>
            </a:custGeom>
            <a:blipFill>
              <a:blip r:embed="rId11"/>
              <a:stretch>
                <a:fillRect l="0" t="-2225" r="0" b="-222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-1068360">
            <a:off x="8927935" y="5202174"/>
            <a:ext cx="1504950" cy="2008442"/>
            <a:chOff x="0" y="0"/>
            <a:chExt cx="2006600" cy="267792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06600" cy="2677922"/>
            </a:xfrm>
            <a:custGeom>
              <a:avLst/>
              <a:gdLst/>
              <a:ahLst/>
              <a:cxnLst/>
              <a:rect r="r" b="b" t="t" l="l"/>
              <a:pathLst>
                <a:path h="2677922" w="2006600">
                  <a:moveTo>
                    <a:pt x="0" y="0"/>
                  </a:moveTo>
                  <a:lnTo>
                    <a:pt x="2006600" y="0"/>
                  </a:lnTo>
                  <a:lnTo>
                    <a:pt x="2006600" y="2677922"/>
                  </a:lnTo>
                  <a:lnTo>
                    <a:pt x="0" y="2677922"/>
                  </a:lnTo>
                  <a:close/>
                </a:path>
              </a:pathLst>
            </a:custGeom>
            <a:blipFill>
              <a:blip r:embed="rId12"/>
              <a:stretch>
                <a:fillRect l="0" t="-2224" r="0" b="-222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20603" y="5492791"/>
            <a:ext cx="896017" cy="896017"/>
            <a:chOff x="0" y="0"/>
            <a:chExt cx="1194689" cy="119468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4689" cy="1194689"/>
            </a:xfrm>
            <a:custGeom>
              <a:avLst/>
              <a:gdLst/>
              <a:ahLst/>
              <a:cxnLst/>
              <a:rect r="r" b="b" t="t" l="l"/>
              <a:pathLst>
                <a:path h="1194689" w="1194689">
                  <a:moveTo>
                    <a:pt x="0" y="0"/>
                  </a:moveTo>
                  <a:lnTo>
                    <a:pt x="1194689" y="0"/>
                  </a:lnTo>
                  <a:lnTo>
                    <a:pt x="1194689" y="1194689"/>
                  </a:lnTo>
                  <a:lnTo>
                    <a:pt x="0" y="119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771165" y="6989235"/>
            <a:ext cx="7516835" cy="1269044"/>
            <a:chOff x="0" y="0"/>
            <a:chExt cx="10022446" cy="16920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22459" cy="1692021"/>
            </a:xfrm>
            <a:custGeom>
              <a:avLst/>
              <a:gdLst/>
              <a:ahLst/>
              <a:cxnLst/>
              <a:rect r="r" b="b" t="t" l="l"/>
              <a:pathLst>
                <a:path h="1692021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692021"/>
                  </a:lnTo>
                  <a:lnTo>
                    <a:pt x="0" y="169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76" t="0" r="-76" b="-2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11463" y="8524808"/>
            <a:ext cx="9176537" cy="1494434"/>
            <a:chOff x="0" y="0"/>
            <a:chExt cx="12235383" cy="199257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4" r="0" b="-5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114024" y="7405211"/>
            <a:ext cx="2059972" cy="2894362"/>
            <a:chOff x="0" y="0"/>
            <a:chExt cx="2746629" cy="38591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46629" cy="3859149"/>
            </a:xfrm>
            <a:custGeom>
              <a:avLst/>
              <a:gdLst/>
              <a:ahLst/>
              <a:cxnLst/>
              <a:rect r="r" b="b" t="t" l="l"/>
              <a:pathLst>
                <a:path h="3859149" w="2746629">
                  <a:moveTo>
                    <a:pt x="0" y="0"/>
                  </a:moveTo>
                  <a:lnTo>
                    <a:pt x="2746629" y="0"/>
                  </a:lnTo>
                  <a:lnTo>
                    <a:pt x="2746629" y="3859149"/>
                  </a:lnTo>
                  <a:lnTo>
                    <a:pt x="0" y="3859149"/>
                  </a:lnTo>
                  <a:close/>
                </a:path>
              </a:pathLst>
            </a:custGeom>
            <a:blipFill>
              <a:blip r:embed="rId15"/>
              <a:stretch>
                <a:fillRect l="-20252" t="0" r="-2025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414502" y="8852887"/>
            <a:ext cx="1118426" cy="810863"/>
            <a:chOff x="0" y="0"/>
            <a:chExt cx="1491234" cy="108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491234" cy="1081151"/>
            </a:xfrm>
            <a:custGeom>
              <a:avLst/>
              <a:gdLst/>
              <a:ahLst/>
              <a:cxnLst/>
              <a:rect r="r" b="b" t="t" l="l"/>
              <a:pathLst>
                <a:path h="1081151" w="1491234">
                  <a:moveTo>
                    <a:pt x="0" y="0"/>
                  </a:moveTo>
                  <a:lnTo>
                    <a:pt x="1491234" y="0"/>
                  </a:lnTo>
                  <a:lnTo>
                    <a:pt x="1491234" y="1081151"/>
                  </a:lnTo>
                  <a:lnTo>
                    <a:pt x="0" y="1081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1" t="0" r="-11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85964" y="464334"/>
            <a:ext cx="5114449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</a:pPr>
            <a:r>
              <a:rPr lang="en-US" b="true" sz="336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PRESENCIA OMNICANAL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3357448"/>
            <a:ext cx="5754843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NECESIDAD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105465" y="1786623"/>
            <a:ext cx="599968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92626" y="4875105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23914" y="706641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1455" y="9142514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201486" y="3824278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DIGITALIZACIÓN CENTRALIZADA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138012" y="5370119"/>
            <a:ext cx="6010361" cy="95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Migrar el inventario físico a una base de datos propia y en tiempo real que evite errores de stock.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201486" y="7138787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AUTOMATIZACIÓN Y MÉTRICAS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771014" y="8658330"/>
            <a:ext cx="6331744" cy="953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Módulo transaccional para torneos (vía WhatsApp) y reporte ejecutivo con IA/BI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2537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24384000" y="13716000"/>
                  </a:moveTo>
                  <a:lnTo>
                    <a:pt x="0" y="13716000"/>
                  </a:lnTo>
                  <a:lnTo>
                    <a:pt x="0" y="0"/>
                  </a:lnTo>
                  <a:lnTo>
                    <a:pt x="24384000" y="0"/>
                  </a:lnTo>
                  <a:lnTo>
                    <a:pt x="2438400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2B3D59">
                    <a:alpha val="100000"/>
                  </a:srgbClr>
                </a:gs>
                <a:gs pos="100000">
                  <a:srgbClr val="03060C">
                    <a:alpha val="100000"/>
                  </a:srgbClr>
                </a:gs>
              </a:gsLst>
              <a:path path="circle">
                <a:fillToRect l="100100" r="-100" t="100100" b="-100"/>
              </a:path>
              <a:tileRect r="-100200" l="0" b="-100200" t="0"/>
            </a:gradFill>
          </p:spPr>
        </p:sp>
      </p:grpSp>
      <p:grpSp>
        <p:nvGrpSpPr>
          <p:cNvPr name="Group 4" id="4"/>
          <p:cNvGrpSpPr/>
          <p:nvPr/>
        </p:nvGrpSpPr>
        <p:grpSpPr>
          <a:xfrm rot="-8820000">
            <a:off x="4533281" y="-1077011"/>
            <a:ext cx="3863912" cy="3419570"/>
            <a:chOff x="0" y="0"/>
            <a:chExt cx="5151882" cy="4559427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1882" cy="4559427"/>
            </a:xfrm>
            <a:custGeom>
              <a:avLst/>
              <a:gdLst/>
              <a:ahLst/>
              <a:cxnLst/>
              <a:rect r="r" b="b" t="t" l="l"/>
              <a:pathLst>
                <a:path h="4559427" w="5151882">
                  <a:moveTo>
                    <a:pt x="0" y="4559427"/>
                  </a:moveTo>
                  <a:lnTo>
                    <a:pt x="5151882" y="4559427"/>
                  </a:lnTo>
                  <a:lnTo>
                    <a:pt x="5151882" y="0"/>
                  </a:lnTo>
                  <a:lnTo>
                    <a:pt x="0" y="0"/>
                  </a:lnTo>
                  <a:lnTo>
                    <a:pt x="0" y="4559427"/>
                  </a:lnTo>
                  <a:close/>
                </a:path>
              </a:pathLst>
            </a:custGeom>
            <a:blipFill>
              <a:blip r:embed="rId3">
                <a:alphaModFix amt="35000"/>
              </a:blip>
              <a:stretch>
                <a:fillRect l="0" t="-4" r="0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71455" y="826284"/>
            <a:ext cx="714470" cy="714470"/>
            <a:chOff x="0" y="0"/>
            <a:chExt cx="952627" cy="9526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20603" y="350196"/>
            <a:ext cx="7367397" cy="1239383"/>
            <a:chOff x="0" y="0"/>
            <a:chExt cx="9823196" cy="1652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23196" cy="1652524"/>
            </a:xfrm>
            <a:custGeom>
              <a:avLst/>
              <a:gdLst/>
              <a:ahLst/>
              <a:cxnLst/>
              <a:rect r="r" b="b" t="t" l="l"/>
              <a:pathLst>
                <a:path h="1652524" w="9823196">
                  <a:moveTo>
                    <a:pt x="0" y="0"/>
                  </a:moveTo>
                  <a:lnTo>
                    <a:pt x="9823196" y="0"/>
                  </a:lnTo>
                  <a:lnTo>
                    <a:pt x="9823196" y="1652524"/>
                  </a:lnTo>
                  <a:lnTo>
                    <a:pt x="0" y="1652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4" t="0" r="-14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11463" y="1795415"/>
            <a:ext cx="9176537" cy="1494434"/>
            <a:chOff x="0" y="0"/>
            <a:chExt cx="12235383" cy="19925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771165" y="3676660"/>
            <a:ext cx="7516835" cy="1329738"/>
            <a:chOff x="0" y="0"/>
            <a:chExt cx="10022446" cy="177298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22459" cy="1772920"/>
            </a:xfrm>
            <a:custGeom>
              <a:avLst/>
              <a:gdLst/>
              <a:ahLst/>
              <a:cxnLst/>
              <a:rect r="r" b="b" t="t" l="l"/>
              <a:pathLst>
                <a:path h="1772920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772920"/>
                  </a:lnTo>
                  <a:lnTo>
                    <a:pt x="0" y="1772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51" r="0" b="-156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0" y="5212223"/>
            <a:ext cx="9176537" cy="1494434"/>
            <a:chOff x="0" y="0"/>
            <a:chExt cx="12235383" cy="19925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58675" y="2134819"/>
            <a:ext cx="1030510" cy="984123"/>
            <a:chOff x="0" y="0"/>
            <a:chExt cx="1374013" cy="131216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4013" cy="1312164"/>
            </a:xfrm>
            <a:custGeom>
              <a:avLst/>
              <a:gdLst/>
              <a:ahLst/>
              <a:cxnLst/>
              <a:rect r="r" b="b" t="t" l="l"/>
              <a:pathLst>
                <a:path h="1312164" w="1374013">
                  <a:moveTo>
                    <a:pt x="0" y="0"/>
                  </a:moveTo>
                  <a:lnTo>
                    <a:pt x="1374013" y="0"/>
                  </a:lnTo>
                  <a:lnTo>
                    <a:pt x="1374013" y="1312164"/>
                  </a:lnTo>
                  <a:lnTo>
                    <a:pt x="0" y="13121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30" r="0" b="-3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72595" y="5565686"/>
            <a:ext cx="896017" cy="896017"/>
            <a:chOff x="0" y="0"/>
            <a:chExt cx="1194689" cy="119468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94689" cy="1194689"/>
            </a:xfrm>
            <a:custGeom>
              <a:avLst/>
              <a:gdLst/>
              <a:ahLst/>
              <a:cxnLst/>
              <a:rect r="r" b="b" t="t" l="l"/>
              <a:pathLst>
                <a:path h="1194689" w="1194689">
                  <a:moveTo>
                    <a:pt x="0" y="0"/>
                  </a:moveTo>
                  <a:lnTo>
                    <a:pt x="1194689" y="0"/>
                  </a:lnTo>
                  <a:lnTo>
                    <a:pt x="1194689" y="1194689"/>
                  </a:lnTo>
                  <a:lnTo>
                    <a:pt x="0" y="119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71165" y="6989235"/>
            <a:ext cx="7516835" cy="1269044"/>
            <a:chOff x="0" y="0"/>
            <a:chExt cx="10022446" cy="16920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22459" cy="1692021"/>
            </a:xfrm>
            <a:custGeom>
              <a:avLst/>
              <a:gdLst/>
              <a:ahLst/>
              <a:cxnLst/>
              <a:rect r="r" b="b" t="t" l="l"/>
              <a:pathLst>
                <a:path h="1692021" w="10022459">
                  <a:moveTo>
                    <a:pt x="0" y="0"/>
                  </a:moveTo>
                  <a:lnTo>
                    <a:pt x="10022459" y="0"/>
                  </a:lnTo>
                  <a:lnTo>
                    <a:pt x="10022459" y="1692021"/>
                  </a:lnTo>
                  <a:lnTo>
                    <a:pt x="0" y="16920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6" t="0" r="-76" b="-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11463" y="8524808"/>
            <a:ext cx="9176537" cy="1494434"/>
            <a:chOff x="0" y="0"/>
            <a:chExt cx="12235383" cy="19925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235434" cy="1992630"/>
            </a:xfrm>
            <a:custGeom>
              <a:avLst/>
              <a:gdLst/>
              <a:ahLst/>
              <a:cxnLst/>
              <a:rect r="r" b="b" t="t" l="l"/>
              <a:pathLst>
                <a:path h="1992630" w="12235434">
                  <a:moveTo>
                    <a:pt x="0" y="0"/>
                  </a:moveTo>
                  <a:lnTo>
                    <a:pt x="12235434" y="0"/>
                  </a:lnTo>
                  <a:lnTo>
                    <a:pt x="12235434" y="1992630"/>
                  </a:lnTo>
                  <a:lnTo>
                    <a:pt x="0" y="19926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2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414502" y="8852887"/>
            <a:ext cx="1118426" cy="810863"/>
            <a:chOff x="0" y="0"/>
            <a:chExt cx="1491234" cy="108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91234" cy="1081151"/>
            </a:xfrm>
            <a:custGeom>
              <a:avLst/>
              <a:gdLst/>
              <a:ahLst/>
              <a:cxnLst/>
              <a:rect r="r" b="b" t="t" l="l"/>
              <a:pathLst>
                <a:path h="1081151" w="1491234">
                  <a:moveTo>
                    <a:pt x="0" y="0"/>
                  </a:moveTo>
                  <a:lnTo>
                    <a:pt x="1491234" y="0"/>
                  </a:lnTo>
                  <a:lnTo>
                    <a:pt x="1491234" y="1081151"/>
                  </a:lnTo>
                  <a:lnTo>
                    <a:pt x="0" y="1081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1" t="0" r="-11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450731" y="4614853"/>
            <a:ext cx="2589562" cy="2138839"/>
            <a:chOff x="0" y="0"/>
            <a:chExt cx="3452749" cy="285178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52749" cy="2851785"/>
            </a:xfrm>
            <a:custGeom>
              <a:avLst/>
              <a:gdLst/>
              <a:ahLst/>
              <a:cxnLst/>
              <a:rect r="r" b="b" t="t" l="l"/>
              <a:pathLst>
                <a:path h="2851785" w="3452749">
                  <a:moveTo>
                    <a:pt x="0" y="0"/>
                  </a:moveTo>
                  <a:lnTo>
                    <a:pt x="3452749" y="0"/>
                  </a:lnTo>
                  <a:lnTo>
                    <a:pt x="3452749" y="2851785"/>
                  </a:lnTo>
                  <a:lnTo>
                    <a:pt x="0" y="2851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664" r="0" b="-66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05649" y="8078743"/>
            <a:ext cx="2622233" cy="1852041"/>
            <a:chOff x="0" y="0"/>
            <a:chExt cx="3496310" cy="24693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6310" cy="2469388"/>
            </a:xfrm>
            <a:custGeom>
              <a:avLst/>
              <a:gdLst/>
              <a:ahLst/>
              <a:cxnLst/>
              <a:rect r="r" b="b" t="t" l="l"/>
              <a:pathLst>
                <a:path h="2469388" w="3496310">
                  <a:moveTo>
                    <a:pt x="0" y="0"/>
                  </a:moveTo>
                  <a:lnTo>
                    <a:pt x="3496310" y="0"/>
                  </a:lnTo>
                  <a:lnTo>
                    <a:pt x="3496310" y="2469388"/>
                  </a:lnTo>
                  <a:lnTo>
                    <a:pt x="0" y="24693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-2660" r="0" b="-266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835191" y="5801230"/>
            <a:ext cx="3687890" cy="3753517"/>
            <a:chOff x="0" y="0"/>
            <a:chExt cx="4917186" cy="500468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54" r="0" b="-54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248592" y="1538488"/>
            <a:ext cx="2993803" cy="1751362"/>
            <a:chOff x="0" y="0"/>
            <a:chExt cx="3991737" cy="233514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91737" cy="2335149"/>
            </a:xfrm>
            <a:custGeom>
              <a:avLst/>
              <a:gdLst/>
              <a:ahLst/>
              <a:cxnLst/>
              <a:rect r="r" b="b" t="t" l="l"/>
              <a:pathLst>
                <a:path h="2335149" w="3991737">
                  <a:moveTo>
                    <a:pt x="0" y="0"/>
                  </a:moveTo>
                  <a:lnTo>
                    <a:pt x="3991737" y="0"/>
                  </a:lnTo>
                  <a:lnTo>
                    <a:pt x="3991737" y="2335149"/>
                  </a:lnTo>
                  <a:lnTo>
                    <a:pt x="0" y="2335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8" r="0" b="-117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3471436" y="464334"/>
            <a:ext cx="3343513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5"/>
              </a:lnSpc>
            </a:pPr>
            <a:r>
              <a:rPr lang="en-US" b="true" sz="3369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SAAS A MEDIDA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3357448"/>
            <a:ext cx="5260781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SOLUCION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05465" y="1786623"/>
            <a:ext cx="599968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Un e-commerce accesible y optimizado para móviles que supere la barrera de la ubicación física y aumente la visibilidad del negocio.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92626" y="4875105"/>
            <a:ext cx="342698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23914" y="706641"/>
            <a:ext cx="4233710" cy="791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3444" y="9114473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201486" y="3824278"/>
            <a:ext cx="691434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0"/>
              </a:lnSpc>
            </a:pPr>
            <a:r>
              <a:rPr lang="en-US" b="true" sz="327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VITRINA DIGITAL OPTIMIZADA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32889" y="5244522"/>
            <a:ext cx="6591433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Sitio web de alto impacto visual y rápido rendimiento (Next.js/Tailwind) para darle visibilidad total a la tienda y captar clientes fuera del local físico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90808" y="7001942"/>
            <a:ext cx="691434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2"/>
              </a:lnSpc>
            </a:pPr>
            <a:r>
              <a:rPr lang="en-US" b="true" sz="2970">
                <a:solidFill>
                  <a:srgbClr val="00FFFF"/>
                </a:solidFill>
                <a:latin typeface="Poppins Bold"/>
                <a:ea typeface="Poppins Bold"/>
                <a:cs typeface="Poppins Bold"/>
                <a:sym typeface="Poppins Bold"/>
              </a:rPr>
              <a:t>DASHBOARD CON IA Y BUSINESS INTELLIGENCE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32889" y="8467830"/>
            <a:ext cx="6572260" cy="1287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6"/>
              </a:lnSpc>
            </a:pPr>
            <a:r>
              <a:rPr lang="en-US" sz="1899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Panel administrativo con gráficos y modelos de Inteligencia Artificial que generan reportes predictivos de demanda para guiar decisiones de compra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758711" y="540771"/>
          <a:ext cx="8191500" cy="9245600"/>
        </p:xfrm>
        <a:graphic>
          <a:graphicData uri="http://schemas.openxmlformats.org/drawingml/2006/table">
            <a:tbl>
              <a:tblPr/>
              <a:tblGrid>
                <a:gridCol w="1310647"/>
                <a:gridCol w="6880853"/>
              </a:tblGrid>
              <a:tr h="6276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Requisito funcional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usuarios y autenticación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Visualización y gestión del catálogo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categorías y subcategorías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y control de inventario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Carrito y generación de órdenes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Procesamiento y validación de pagos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e inscripción a torneos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04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Dashboard administrativo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040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RF09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Generación de reportes y BI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RF10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Predicción de demanda mediante 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973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RF11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Automatización de comunicaciones/WhatsApp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1250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RF12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Gestión de información del cliente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9435619" y="540771"/>
          <a:ext cx="8242300" cy="8153400"/>
        </p:xfrm>
        <a:graphic>
          <a:graphicData uri="http://schemas.openxmlformats.org/drawingml/2006/table">
            <a:tbl>
              <a:tblPr/>
              <a:tblGrid>
                <a:gridCol w="1335623"/>
                <a:gridCol w="5004948"/>
                <a:gridCol w="1901728"/>
              </a:tblGrid>
              <a:tr h="77875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Requisito no funcional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b="true" sz="2199">
                          <a:solidFill>
                            <a:srgbClr val="FFFFFF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Prioridad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173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Seguridad y autenticación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79855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Protección de datos personales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10252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RNF03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Integridad y consistencia de datos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86117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RNF04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Rendimiento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100231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RNF05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Diseño responsive / Mobile-First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8669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RNF06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🟠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6591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RNF07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Escalabilidad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🟡 Media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  <a:tr h="93716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838"/>
                        </a:lnSpc>
                        <a:defRPr/>
                      </a:pPr>
                      <a:r>
                        <a:rPr lang="en-US" b="true" sz="2000">
                          <a:solidFill>
                            <a:srgbClr val="F9D75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RNF08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Disponibilidad y confiabilidad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531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🔴 Muy Alta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2E"/>
                    </a:solidFill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27541576" cy="15492127"/>
            <a:chOff x="0" y="0"/>
            <a:chExt cx="36722101" cy="206561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722050" cy="20656169"/>
            </a:xfrm>
            <a:custGeom>
              <a:avLst/>
              <a:gdLst/>
              <a:ahLst/>
              <a:cxnLst/>
              <a:rect r="r" b="b" t="t" l="l"/>
              <a:pathLst>
                <a:path h="20656169" w="36722050">
                  <a:moveTo>
                    <a:pt x="0" y="0"/>
                  </a:moveTo>
                  <a:lnTo>
                    <a:pt x="36722050" y="0"/>
                  </a:lnTo>
                  <a:lnTo>
                    <a:pt x="36722050" y="20656169"/>
                  </a:lnTo>
                  <a:lnTo>
                    <a:pt x="0" y="206561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2660">
            <a:off x="12881962" y="-1109529"/>
            <a:ext cx="8062912" cy="3960876"/>
            <a:chOff x="0" y="0"/>
            <a:chExt cx="10750550" cy="52811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50550" cy="5281168"/>
            </a:xfrm>
            <a:custGeom>
              <a:avLst/>
              <a:gdLst/>
              <a:ahLst/>
              <a:cxnLst/>
              <a:rect r="r" b="b" t="t" l="l"/>
              <a:pathLst>
                <a:path h="5281168" w="10750550">
                  <a:moveTo>
                    <a:pt x="0" y="0"/>
                  </a:moveTo>
                  <a:lnTo>
                    <a:pt x="10750550" y="0"/>
                  </a:lnTo>
                  <a:lnTo>
                    <a:pt x="10750550" y="5281168"/>
                  </a:lnTo>
                  <a:lnTo>
                    <a:pt x="0" y="528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9360">
            <a:off x="12578153" y="8724167"/>
            <a:ext cx="8062912" cy="3960876"/>
            <a:chOff x="0" y="0"/>
            <a:chExt cx="10750550" cy="528116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0550" cy="5281168"/>
            </a:xfrm>
            <a:custGeom>
              <a:avLst/>
              <a:gdLst/>
              <a:ahLst/>
              <a:cxnLst/>
              <a:rect r="r" b="b" t="t" l="l"/>
              <a:pathLst>
                <a:path h="5281168" w="10750550">
                  <a:moveTo>
                    <a:pt x="0" y="0"/>
                  </a:moveTo>
                  <a:lnTo>
                    <a:pt x="10750550" y="0"/>
                  </a:lnTo>
                  <a:lnTo>
                    <a:pt x="10750550" y="5281168"/>
                  </a:lnTo>
                  <a:lnTo>
                    <a:pt x="0" y="5281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4"/>
            <a:ext cx="10970419" cy="2278380"/>
            <a:chOff x="0" y="0"/>
            <a:chExt cx="14627225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0970419" cy="2278380"/>
            <a:chOff x="0" y="0"/>
            <a:chExt cx="14627225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62438" y="3469234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1066" y="5741375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1589296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NÚCLEO DEL PRODUCTO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156127" y="2264273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Base técnica, datos y acceso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5100" y="4536824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E-commerce y catálogo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modelo de datos, autenticación, roles y permisos.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7923" y="6937124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Torneos y participación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Creación de torneos, cupos, pagos, QR y asistencia.</a:t>
            </a:r>
          </a:p>
          <a:p>
            <a:pPr algn="l">
              <a:lnSpc>
                <a:spcPts val="338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0080">
            <a:off x="12883391" y="-1110434"/>
            <a:ext cx="8071733" cy="3965210"/>
            <a:chOff x="0" y="0"/>
            <a:chExt cx="10762310" cy="5286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2361" cy="5286883"/>
            </a:xfrm>
            <a:custGeom>
              <a:avLst/>
              <a:gdLst/>
              <a:ahLst/>
              <a:cxnLst/>
              <a:rect r="r" b="b" t="t" l="l"/>
              <a:pathLst>
                <a:path h="5286883" w="10762361">
                  <a:moveTo>
                    <a:pt x="0" y="0"/>
                  </a:moveTo>
                  <a:lnTo>
                    <a:pt x="10762361" y="0"/>
                  </a:lnTo>
                  <a:lnTo>
                    <a:pt x="10762361" y="5286883"/>
                  </a:lnTo>
                  <a:lnTo>
                    <a:pt x="0" y="5286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4980">
            <a:off x="12576972" y="8729739"/>
            <a:ext cx="8063360" cy="3961095"/>
            <a:chOff x="0" y="0"/>
            <a:chExt cx="10751147" cy="5281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1185" cy="5281422"/>
            </a:xfrm>
            <a:custGeom>
              <a:avLst/>
              <a:gdLst/>
              <a:ahLst/>
              <a:cxnLst/>
              <a:rect r="r" b="b" t="t" l="l"/>
              <a:pathLst>
                <a:path h="5281422" w="10751185">
                  <a:moveTo>
                    <a:pt x="0" y="0"/>
                  </a:moveTo>
                  <a:lnTo>
                    <a:pt x="10751185" y="0"/>
                  </a:lnTo>
                  <a:lnTo>
                    <a:pt x="10751185" y="5281422"/>
                  </a:lnTo>
                  <a:lnTo>
                    <a:pt x="0" y="528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4"/>
            <a:ext cx="10970419" cy="2278380"/>
            <a:chOff x="0" y="0"/>
            <a:chExt cx="14627225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0970419" cy="2278380"/>
            <a:chOff x="0" y="0"/>
            <a:chExt cx="14627225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62438" y="3469234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1066" y="5741375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1589296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OPERACIÓN Y GESTIÓN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156127" y="2264273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Backoffice, inventario y venta presencial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Administración de productos, stock unificado, POS y medios de pago.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5100" y="4536824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Pagos y comunicaciones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Pago online, conciliación y correos transaccionales.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7923" y="6937124"/>
            <a:ext cx="7131901" cy="209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Analítica y Business Intelligence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Dashboard, KPIs, filtros y reportes de operación.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21" y="43796"/>
            <a:ext cx="2817152" cy="5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Dashboard, KPIs, filtros y reportes de operación.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40080">
            <a:off x="12883391" y="-1110434"/>
            <a:ext cx="8071733" cy="3965210"/>
            <a:chOff x="0" y="0"/>
            <a:chExt cx="10762310" cy="52869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62361" cy="5286883"/>
            </a:xfrm>
            <a:custGeom>
              <a:avLst/>
              <a:gdLst/>
              <a:ahLst/>
              <a:cxnLst/>
              <a:rect r="r" b="b" t="t" l="l"/>
              <a:pathLst>
                <a:path h="5286883" w="10762361">
                  <a:moveTo>
                    <a:pt x="0" y="0"/>
                  </a:moveTo>
                  <a:lnTo>
                    <a:pt x="10762361" y="0"/>
                  </a:lnTo>
                  <a:lnTo>
                    <a:pt x="10762361" y="5286883"/>
                  </a:lnTo>
                  <a:lnTo>
                    <a:pt x="0" y="5286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44980">
            <a:off x="12576972" y="8729739"/>
            <a:ext cx="8063360" cy="3961095"/>
            <a:chOff x="0" y="0"/>
            <a:chExt cx="10751147" cy="5281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1185" cy="5281422"/>
            </a:xfrm>
            <a:custGeom>
              <a:avLst/>
              <a:gdLst/>
              <a:ahLst/>
              <a:cxnLst/>
              <a:rect r="r" b="b" t="t" l="l"/>
              <a:pathLst>
                <a:path h="5281422" w="10751185">
                  <a:moveTo>
                    <a:pt x="0" y="0"/>
                  </a:moveTo>
                  <a:lnTo>
                    <a:pt x="10751185" y="0"/>
                  </a:lnTo>
                  <a:lnTo>
                    <a:pt x="10751185" y="5281422"/>
                  </a:lnTo>
                  <a:lnTo>
                    <a:pt x="0" y="52814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329224" y="2123103"/>
            <a:ext cx="6713315" cy="6738556"/>
            <a:chOff x="0" y="0"/>
            <a:chExt cx="8951087" cy="898474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51087" cy="8984742"/>
            </a:xfrm>
            <a:custGeom>
              <a:avLst/>
              <a:gdLst/>
              <a:ahLst/>
              <a:cxnLst/>
              <a:rect r="r" b="b" t="t" l="l"/>
              <a:pathLst>
                <a:path h="8984742" w="8951087">
                  <a:moveTo>
                    <a:pt x="0" y="0"/>
                  </a:moveTo>
                  <a:lnTo>
                    <a:pt x="8951087" y="0"/>
                  </a:lnTo>
                  <a:lnTo>
                    <a:pt x="8951087" y="8984742"/>
                  </a:lnTo>
                  <a:lnTo>
                    <a:pt x="0" y="8984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" t="0" r="-1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322737" y="2184844"/>
            <a:ext cx="10970419" cy="2278380"/>
            <a:chOff x="0" y="0"/>
            <a:chExt cx="14627225" cy="3037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-1322737" y="4481417"/>
            <a:ext cx="10970419" cy="2278380"/>
            <a:chOff x="0" y="0"/>
            <a:chExt cx="14627225" cy="3037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27225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225">
                  <a:moveTo>
                    <a:pt x="0" y="0"/>
                  </a:moveTo>
                  <a:lnTo>
                    <a:pt x="14627225" y="0"/>
                  </a:lnTo>
                  <a:lnTo>
                    <a:pt x="14627225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2" t="0" r="-5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-762438" y="6778000"/>
            <a:ext cx="10970324" cy="2278380"/>
            <a:chOff x="0" y="0"/>
            <a:chExt cx="14627098" cy="3037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27098" cy="3037840"/>
            </a:xfrm>
            <a:custGeom>
              <a:avLst/>
              <a:gdLst/>
              <a:ahLst/>
              <a:cxnLst/>
              <a:rect r="r" b="b" t="t" l="l"/>
              <a:pathLst>
                <a:path h="3037840" w="14627098">
                  <a:moveTo>
                    <a:pt x="0" y="0"/>
                  </a:moveTo>
                  <a:lnTo>
                    <a:pt x="14627098" y="0"/>
                  </a:lnTo>
                  <a:lnTo>
                    <a:pt x="14627098" y="3037840"/>
                  </a:lnTo>
                  <a:lnTo>
                    <a:pt x="0" y="3037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53" t="0" r="-53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99270" y="964349"/>
            <a:ext cx="2255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762438" y="3469234"/>
            <a:ext cx="3323396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221066" y="5741375"/>
            <a:ext cx="2498998" cy="3266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73"/>
              </a:lnSpc>
            </a:pPr>
            <a:r>
              <a:rPr lang="en-US" b="true" sz="12060">
                <a:solidFill>
                  <a:srgbClr val="FFFFFF"/>
                </a:solidFill>
                <a:latin typeface="Saira Bold"/>
                <a:ea typeface="Saira Bold"/>
                <a:cs typeface="Saira Bold"/>
                <a:sym typeface="Saira Bold"/>
              </a:rPr>
              <a:t>E8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77923" y="664874"/>
            <a:ext cx="12485703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ÉPICAS · Calidad, cliente y confianza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5" r="0" b="-55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156127" y="2264273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Despliegue, calidad y seguridad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Infraestructura, HTTPS, pruebas, respaldo, monitoreo y mantenibilidad.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152400" cy="46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5100" y="4536824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Cuenta y gestión del cliente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Perfil opcional, historial, datos, consentimiento y acceso seguro.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2277923" y="6937124"/>
            <a:ext cx="7131901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4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Contenido, contacto y confianza</a:t>
            </a:r>
          </a:p>
          <a:p>
            <a:pPr algn="l">
              <a:lnSpc>
                <a:spcPts val="4835"/>
              </a:lnSpc>
            </a:pPr>
            <a:r>
              <a:rPr lang="en-US" sz="199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Ubicación, WhatsApp directo, redes, información institucional, políticas y SEO.</a:t>
            </a:r>
          </a:p>
          <a:p>
            <a:pPr algn="l">
              <a:lnSpc>
                <a:spcPts val="338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91421" y="43796"/>
            <a:ext cx="2817152" cy="51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Dashboard, KPIs, filtros y reportes de operación.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1239420">
            <a:off x="12885782" y="-1113406"/>
            <a:ext cx="8056816" cy="3957923"/>
            <a:chOff x="0" y="0"/>
            <a:chExt cx="10742422" cy="52772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42422" cy="5277231"/>
            </a:xfrm>
            <a:custGeom>
              <a:avLst/>
              <a:gdLst/>
              <a:ahLst/>
              <a:cxnLst/>
              <a:rect r="r" b="b" t="t" l="l"/>
              <a:pathLst>
                <a:path h="5277231" w="10742422">
                  <a:moveTo>
                    <a:pt x="0" y="0"/>
                  </a:moveTo>
                  <a:lnTo>
                    <a:pt x="10742422" y="0"/>
                  </a:lnTo>
                  <a:lnTo>
                    <a:pt x="10742422" y="5277231"/>
                  </a:lnTo>
                  <a:lnTo>
                    <a:pt x="0" y="5277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4" r="0" b="-15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50500">
            <a:off x="12578629" y="8722223"/>
            <a:ext cx="8066627" cy="3962781"/>
            <a:chOff x="0" y="0"/>
            <a:chExt cx="10755503" cy="52837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55503" cy="5283708"/>
            </a:xfrm>
            <a:custGeom>
              <a:avLst/>
              <a:gdLst/>
              <a:ahLst/>
              <a:cxnLst/>
              <a:rect r="r" b="b" t="t" l="l"/>
              <a:pathLst>
                <a:path h="5283708" w="10755503">
                  <a:moveTo>
                    <a:pt x="0" y="0"/>
                  </a:moveTo>
                  <a:lnTo>
                    <a:pt x="10755503" y="0"/>
                  </a:lnTo>
                  <a:lnTo>
                    <a:pt x="10755503" y="5283708"/>
                  </a:lnTo>
                  <a:lnTo>
                    <a:pt x="0" y="52837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37000"/>
              </a:blip>
              <a:stretch>
                <a:fillRect l="0" t="-153" r="0" b="-15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77923" y="564004"/>
            <a:ext cx="8462401" cy="1265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HISTORIAS DE USUARIO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21551" y="689391"/>
            <a:ext cx="1408652" cy="1433703"/>
            <a:chOff x="0" y="0"/>
            <a:chExt cx="1878203" cy="19116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5" r="0" b="-55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087529" y="4907728"/>
            <a:ext cx="5033401" cy="1741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0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Como cliente, quiero revisar mi carrito, ingresar mis datos y pagar en un flujo claro, para completar mi compra sin fricción.</a:t>
            </a:r>
          </a:p>
          <a:p>
            <a:pPr algn="l">
              <a:lnSpc>
                <a:spcPts val="1947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3472977" y="3127724"/>
            <a:ext cx="3403759" cy="1913382"/>
            <a:chOff x="0" y="0"/>
            <a:chExt cx="4538345" cy="25511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38345" cy="2551176"/>
            </a:xfrm>
            <a:custGeom>
              <a:avLst/>
              <a:gdLst/>
              <a:ahLst/>
              <a:cxnLst/>
              <a:rect r="r" b="b" t="t" l="l"/>
              <a:pathLst>
                <a:path h="2551176" w="4538345">
                  <a:moveTo>
                    <a:pt x="0" y="0"/>
                  </a:moveTo>
                  <a:lnTo>
                    <a:pt x="4538345" y="0"/>
                  </a:lnTo>
                  <a:lnTo>
                    <a:pt x="4538345" y="2551176"/>
                  </a:lnTo>
                  <a:lnTo>
                    <a:pt x="0" y="25511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174" t="0" r="-22174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3472977" y="2763212"/>
            <a:ext cx="3906222" cy="2409977"/>
            <a:chOff x="0" y="0"/>
            <a:chExt cx="5208295" cy="32133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08270" cy="3213354"/>
            </a:xfrm>
            <a:custGeom>
              <a:avLst/>
              <a:gdLst/>
              <a:ahLst/>
              <a:cxnLst/>
              <a:rect r="r" b="b" t="t" l="l"/>
              <a:pathLst>
                <a:path h="3213354" w="5208270">
                  <a:moveTo>
                    <a:pt x="0" y="0"/>
                  </a:moveTo>
                  <a:lnTo>
                    <a:pt x="5208270" y="0"/>
                  </a:lnTo>
                  <a:lnTo>
                    <a:pt x="5208270" y="3213354"/>
                  </a:lnTo>
                  <a:lnTo>
                    <a:pt x="0" y="321335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213" t="0" r="-29213" b="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472977" y="2570331"/>
            <a:ext cx="3906222" cy="2602859"/>
            <a:chOff x="0" y="0"/>
            <a:chExt cx="5208295" cy="34704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08296" cy="3470477"/>
            </a:xfrm>
            <a:custGeom>
              <a:avLst/>
              <a:gdLst/>
              <a:ahLst/>
              <a:cxnLst/>
              <a:rect r="r" b="b" t="t" l="l"/>
              <a:pathLst>
                <a:path h="3470477" w="5208296">
                  <a:moveTo>
                    <a:pt x="0" y="0"/>
                  </a:moveTo>
                  <a:lnTo>
                    <a:pt x="5208296" y="0"/>
                  </a:lnTo>
                  <a:lnTo>
                    <a:pt x="5208296" y="3470477"/>
                  </a:lnTo>
                  <a:lnTo>
                    <a:pt x="0" y="347047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493" t="0" r="-3549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33400"/>
              <a:ext cx="5208295" cy="4003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77"/>
                </a:lnSpc>
              </a:pPr>
              <a:r>
                <a:rPr lang="en-US" b="true" sz="99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7259300" y="8953500"/>
            <a:ext cx="564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816038" y="2897095"/>
            <a:ext cx="3403759" cy="1913382"/>
            <a:chOff x="0" y="0"/>
            <a:chExt cx="4538345" cy="25511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38345" cy="2551176"/>
            </a:xfrm>
            <a:custGeom>
              <a:avLst/>
              <a:gdLst/>
              <a:ahLst/>
              <a:cxnLst/>
              <a:rect r="r" b="b" t="t" l="l"/>
              <a:pathLst>
                <a:path h="2551176" w="4538345">
                  <a:moveTo>
                    <a:pt x="0" y="0"/>
                  </a:moveTo>
                  <a:lnTo>
                    <a:pt x="4538345" y="0"/>
                  </a:lnTo>
                  <a:lnTo>
                    <a:pt x="4538345" y="2551176"/>
                  </a:lnTo>
                  <a:lnTo>
                    <a:pt x="0" y="255117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174" t="0" r="-22174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386804" y="2278028"/>
            <a:ext cx="2817152" cy="233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77"/>
              </a:lnSpc>
            </a:pPr>
            <a:r>
              <a:rPr lang="en-US" b="true" sz="999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57159" y="4755728"/>
            <a:ext cx="5453253" cy="1407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4"/>
              </a:lnSpc>
            </a:pPr>
            <a:r>
              <a:rPr lang="en-US" sz="2000" i="true">
                <a:solidFill>
                  <a:srgbClr val="FFFFFF"/>
                </a:solidFill>
                <a:latin typeface="Arial Italics"/>
                <a:ea typeface="Arial Italics"/>
                <a:cs typeface="Arial Italics"/>
                <a:sym typeface="Arial Italics"/>
              </a:rPr>
              <a:t>Como administrador, quiero crear, editar y eliminar productos del inventario, para mantener el catálogo actualizado sin depender de Excel. 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4399226" y="6673272"/>
            <a:ext cx="2014823" cy="2014823"/>
            <a:chOff x="0" y="0"/>
            <a:chExt cx="2686431" cy="26864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86431" cy="2686431"/>
            </a:xfrm>
            <a:custGeom>
              <a:avLst/>
              <a:gdLst/>
              <a:ahLst/>
              <a:cxnLst/>
              <a:rect r="r" b="b" t="t" l="l"/>
              <a:pathLst>
                <a:path h="2686431" w="2686431">
                  <a:moveTo>
                    <a:pt x="0" y="0"/>
                  </a:moveTo>
                  <a:lnTo>
                    <a:pt x="2686431" y="0"/>
                  </a:lnTo>
                  <a:lnTo>
                    <a:pt x="2686431" y="2686431"/>
                  </a:lnTo>
                  <a:lnTo>
                    <a:pt x="0" y="268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787969" y="6544142"/>
            <a:ext cx="2014823" cy="2014823"/>
            <a:chOff x="0" y="0"/>
            <a:chExt cx="2686431" cy="26864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86431" cy="2686431"/>
            </a:xfrm>
            <a:custGeom>
              <a:avLst/>
              <a:gdLst/>
              <a:ahLst/>
              <a:cxnLst/>
              <a:rect r="r" b="b" t="t" l="l"/>
              <a:pathLst>
                <a:path h="2686431" w="2686431">
                  <a:moveTo>
                    <a:pt x="0" y="0"/>
                  </a:moveTo>
                  <a:lnTo>
                    <a:pt x="2686431" y="0"/>
                  </a:lnTo>
                  <a:lnTo>
                    <a:pt x="2686431" y="2686431"/>
                  </a:lnTo>
                  <a:lnTo>
                    <a:pt x="0" y="2686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6" r="0" b="-2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8953500"/>
            <a:ext cx="545402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0707" y="152400"/>
            <a:ext cx="11017091" cy="9982200"/>
            <a:chOff x="0" y="0"/>
            <a:chExt cx="14689455" cy="133096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89455" cy="13309600"/>
            </a:xfrm>
            <a:custGeom>
              <a:avLst/>
              <a:gdLst/>
              <a:ahLst/>
              <a:cxnLst/>
              <a:rect r="r" b="b" t="t" l="l"/>
              <a:pathLst>
                <a:path h="13309600" w="14689455">
                  <a:moveTo>
                    <a:pt x="0" y="0"/>
                  </a:moveTo>
                  <a:lnTo>
                    <a:pt x="14689455" y="0"/>
                  </a:lnTo>
                  <a:lnTo>
                    <a:pt x="14689455" y="13309600"/>
                  </a:lnTo>
                  <a:lnTo>
                    <a:pt x="0" y="133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32" r="0" b="-173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47947" y="1131151"/>
            <a:ext cx="1503998" cy="1509522"/>
            <a:chOff x="0" y="0"/>
            <a:chExt cx="2005330" cy="2012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47947" y="3419475"/>
            <a:ext cx="1503998" cy="1509522"/>
            <a:chOff x="0" y="0"/>
            <a:chExt cx="2005330" cy="20126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147947" y="7996123"/>
            <a:ext cx="1503998" cy="1509522"/>
            <a:chOff x="0" y="0"/>
            <a:chExt cx="2005330" cy="20126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147947" y="5707799"/>
            <a:ext cx="1503998" cy="1509522"/>
            <a:chOff x="0" y="0"/>
            <a:chExt cx="2005330" cy="201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05330" cy="2012696"/>
            </a:xfrm>
            <a:custGeom>
              <a:avLst/>
              <a:gdLst/>
              <a:ahLst/>
              <a:cxnLst/>
              <a:rect r="r" b="b" t="t" l="l"/>
              <a:pathLst>
                <a:path h="2012696" w="2005330">
                  <a:moveTo>
                    <a:pt x="0" y="0"/>
                  </a:moveTo>
                  <a:lnTo>
                    <a:pt x="2005330" y="0"/>
                  </a:lnTo>
                  <a:lnTo>
                    <a:pt x="2005330" y="2012696"/>
                  </a:lnTo>
                  <a:lnTo>
                    <a:pt x="0" y="20126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3" t="0" r="-18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248902" y="938546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48902" y="3226879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248902" y="5515204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248902" y="7803528"/>
            <a:ext cx="1302153" cy="160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68"/>
              </a:lnSpc>
            </a:pPr>
            <a:r>
              <a:rPr lang="en-US" sz="6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  <a:p>
            <a:pPr algn="l">
              <a:lnSpc>
                <a:spcPts val="7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4055804" y="925278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Planificar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55804" y="3213602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Construir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92292" y="5530034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92292" y="7947479"/>
            <a:ext cx="2926804" cy="105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1"/>
              </a:lnSpc>
            </a:pPr>
            <a:r>
              <a:rPr lang="en-US" b="true" sz="47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Mejorar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8953500"/>
            <a:ext cx="4515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6994" y="1359113"/>
            <a:ext cx="1408652" cy="1433703"/>
            <a:chOff x="0" y="0"/>
            <a:chExt cx="1878203" cy="19116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8203" cy="1911604"/>
            </a:xfrm>
            <a:custGeom>
              <a:avLst/>
              <a:gdLst/>
              <a:ahLst/>
              <a:cxnLst/>
              <a:rect r="r" b="b" t="t" l="l"/>
              <a:pathLst>
                <a:path h="1911604" w="1878203">
                  <a:moveTo>
                    <a:pt x="0" y="0"/>
                  </a:moveTo>
                  <a:lnTo>
                    <a:pt x="1878203" y="0"/>
                  </a:lnTo>
                  <a:lnTo>
                    <a:pt x="1878203" y="1911604"/>
                  </a:lnTo>
                  <a:lnTo>
                    <a:pt x="0" y="1911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5" r="0" b="-5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1" y="-237744"/>
            <a:ext cx="18288000" cy="933450"/>
            <a:chOff x="0" y="0"/>
            <a:chExt cx="24384000" cy="1244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244600"/>
            </a:xfrm>
            <a:custGeom>
              <a:avLst/>
              <a:gdLst/>
              <a:ahLst/>
              <a:cxnLst/>
              <a:rect r="r" b="b" t="t" l="l"/>
              <a:pathLst>
                <a:path h="12446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244600"/>
                  </a:lnTo>
                  <a:lnTo>
                    <a:pt x="0" y="1244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074864" y="53492"/>
            <a:ext cx="3841147" cy="642271"/>
            <a:chOff x="0" y="0"/>
            <a:chExt cx="5121529" cy="85636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21529" cy="856361"/>
            </a:xfrm>
            <a:custGeom>
              <a:avLst/>
              <a:gdLst/>
              <a:ahLst/>
              <a:cxnLst/>
              <a:rect r="r" b="b" t="t" l="l"/>
              <a:pathLst>
                <a:path h="856361" w="5121529">
                  <a:moveTo>
                    <a:pt x="0" y="0"/>
                  </a:moveTo>
                  <a:lnTo>
                    <a:pt x="5121529" y="0"/>
                  </a:lnTo>
                  <a:lnTo>
                    <a:pt x="5121529" y="856361"/>
                  </a:lnTo>
                  <a:lnTo>
                    <a:pt x="0" y="856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898" r="0" b="-89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442563" y="5037496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Gustavo Góngora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42563" y="5677198"/>
            <a:ext cx="3064985" cy="1138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Scrum Master</a:t>
            </a:r>
          </a:p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22653" y="4973950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22653" y="5613652"/>
            <a:ext cx="3064985" cy="81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86896" y="4878381"/>
            <a:ext cx="3064985" cy="927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7"/>
              </a:lnSpc>
            </a:pPr>
            <a:r>
              <a:rPr lang="en-US" b="true" sz="2074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Miguel Astorga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86896" y="5518083"/>
            <a:ext cx="3064985" cy="816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92"/>
              </a:lnSpc>
            </a:pPr>
            <a:r>
              <a:rPr lang="en-US" sz="1816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5392306" y="4042432"/>
            <a:ext cx="3174585" cy="3174585"/>
            <a:chOff x="0" y="0"/>
            <a:chExt cx="4894326" cy="48943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234" r="0" b="-1234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960838" y="3978887"/>
            <a:ext cx="3174585" cy="3174585"/>
            <a:chOff x="0" y="0"/>
            <a:chExt cx="4894326" cy="489432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329217" y="3883317"/>
            <a:ext cx="3174585" cy="3174585"/>
            <a:chOff x="0" y="0"/>
            <a:chExt cx="4894326" cy="48943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2537222" y="1222172"/>
            <a:ext cx="6830892" cy="1158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1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ROLES DE TRABAJO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8953500"/>
            <a:ext cx="489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10015" y="7186715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Gustavo Góngora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10015" y="7698872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Scrum Master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07672" y="7123170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Martín Jara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10536" y="7635319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414970" y="7027600"/>
            <a:ext cx="3018845" cy="1033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Miguel Astorga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414970" y="7539750"/>
            <a:ext cx="3018747" cy="58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072024" y="2259425"/>
            <a:ext cx="177165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7"/>
              </a:lnSpc>
            </a:pPr>
            <a:r>
              <a:rPr lang="en-US" b="true" sz="2499" i="true">
                <a:solidFill>
                  <a:srgbClr val="FFF6DB"/>
                </a:solidFill>
                <a:latin typeface="Atkinson Hyperlegible Bold Italics"/>
                <a:ea typeface="Atkinson Hyperlegible Bold Italics"/>
                <a:cs typeface="Atkinson Hyperlegible Bold Italics"/>
                <a:sym typeface="Atkinson Hyperlegible Bold Italics"/>
              </a:rPr>
              <a:t>Integrantes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919539" y="8040809"/>
            <a:ext cx="2399692" cy="586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Developer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9929" y="4014551"/>
            <a:ext cx="3174585" cy="3174585"/>
            <a:chOff x="0" y="0"/>
            <a:chExt cx="4894326" cy="48943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94326" cy="4894326"/>
            </a:xfrm>
            <a:custGeom>
              <a:avLst/>
              <a:gdLst/>
              <a:ahLst/>
              <a:cxnLst/>
              <a:rect r="r" b="b" t="t" l="l"/>
              <a:pathLst>
                <a:path h="4894326" w="4894326">
                  <a:moveTo>
                    <a:pt x="2447163" y="0"/>
                  </a:moveTo>
                  <a:cubicBezTo>
                    <a:pt x="1095502" y="0"/>
                    <a:pt x="0" y="1095502"/>
                    <a:pt x="0" y="2447163"/>
                  </a:cubicBezTo>
                  <a:cubicBezTo>
                    <a:pt x="0" y="3798824"/>
                    <a:pt x="1095502" y="4894326"/>
                    <a:pt x="2447163" y="4894326"/>
                  </a:cubicBezTo>
                  <a:cubicBezTo>
                    <a:pt x="3798824" y="4894326"/>
                    <a:pt x="4894326" y="3798824"/>
                    <a:pt x="4894326" y="2447163"/>
                  </a:cubicBezTo>
                  <a:cubicBezTo>
                    <a:pt x="4894326" y="1095502"/>
                    <a:pt x="3798824" y="0"/>
                    <a:pt x="2447163" y="0"/>
                  </a:cubicBezTo>
                  <a:close/>
                </a:path>
              </a:pathLst>
            </a:custGeom>
            <a:blipFill>
              <a:blip r:embed="rId9"/>
              <a:stretch>
                <a:fillRect l="-104" t="0" r="-104" b="0"/>
              </a:stretch>
            </a:blipFill>
            <a:ln w="1333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114796" y="7247181"/>
            <a:ext cx="3018845" cy="68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9"/>
              </a:lnSpc>
            </a:pPr>
            <a:r>
              <a:rPr lang="en-US" b="true" sz="255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César Quintana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5311" y="7759338"/>
            <a:ext cx="1937716" cy="576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9"/>
              </a:lnSpc>
            </a:pPr>
            <a:r>
              <a:rPr lang="en-US" b="true" sz="2128">
                <a:solidFill>
                  <a:srgbClr val="FFF6DB"/>
                </a:solidFill>
                <a:latin typeface="Arial Bold"/>
                <a:ea typeface="Arial Bold"/>
                <a:cs typeface="Arial Bold"/>
                <a:sym typeface="Arial Bold"/>
              </a:rPr>
              <a:t>Product Owner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3D59">
                <a:alpha val="100000"/>
              </a:srgbClr>
            </a:gs>
            <a:gs pos="100000">
              <a:srgbClr val="03060C">
                <a:alpha val="100000"/>
              </a:srgbClr>
            </a:gs>
          </a:gsLst>
          <a:path path="circle">
            <a:fillToRect l="100100" r="-100" t="100100" b="-100"/>
          </a:path>
          <a:tileRect r="-100200" l="0" b="-100200" t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01907" y="10725902"/>
            <a:ext cx="4223671" cy="3594926"/>
            <a:chOff x="0" y="0"/>
            <a:chExt cx="5631561" cy="47932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31561" cy="4793234"/>
            </a:xfrm>
            <a:custGeom>
              <a:avLst/>
              <a:gdLst/>
              <a:ahLst/>
              <a:cxnLst/>
              <a:rect r="r" b="b" t="t" l="l"/>
              <a:pathLst>
                <a:path h="4793234" w="5631561">
                  <a:moveTo>
                    <a:pt x="0" y="0"/>
                  </a:moveTo>
                  <a:lnTo>
                    <a:pt x="5631561" y="0"/>
                  </a:lnTo>
                  <a:lnTo>
                    <a:pt x="5631561" y="4793234"/>
                  </a:lnTo>
                  <a:lnTo>
                    <a:pt x="0" y="4793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6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66918" y="595332"/>
            <a:ext cx="1771069" cy="1802568"/>
            <a:chOff x="0" y="0"/>
            <a:chExt cx="2361425" cy="240342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61438" cy="2403475"/>
            </a:xfrm>
            <a:custGeom>
              <a:avLst/>
              <a:gdLst/>
              <a:ahLst/>
              <a:cxnLst/>
              <a:rect r="r" b="b" t="t" l="l"/>
              <a:pathLst>
                <a:path h="2403475" w="2361438">
                  <a:moveTo>
                    <a:pt x="0" y="0"/>
                  </a:moveTo>
                  <a:lnTo>
                    <a:pt x="2361438" y="0"/>
                  </a:lnTo>
                  <a:lnTo>
                    <a:pt x="2361438" y="2403475"/>
                  </a:lnTo>
                  <a:lnTo>
                    <a:pt x="0" y="2403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80605" y="3258779"/>
            <a:ext cx="666655" cy="666655"/>
            <a:chOff x="0" y="0"/>
            <a:chExt cx="888873" cy="8888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88873" cy="888873"/>
            </a:xfrm>
            <a:custGeom>
              <a:avLst/>
              <a:gdLst/>
              <a:ahLst/>
              <a:cxnLst/>
              <a:rect r="r" b="b" t="t" l="l"/>
              <a:pathLst>
                <a:path h="888873" w="888873">
                  <a:moveTo>
                    <a:pt x="0" y="0"/>
                  </a:moveTo>
                  <a:lnTo>
                    <a:pt x="888873" y="0"/>
                  </a:lnTo>
                  <a:lnTo>
                    <a:pt x="888873" y="888873"/>
                  </a:lnTo>
                  <a:lnTo>
                    <a:pt x="0" y="8888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84202" y="4423791"/>
            <a:ext cx="805377" cy="805377"/>
            <a:chOff x="0" y="0"/>
            <a:chExt cx="1073836" cy="10738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785" cy="1073785"/>
            </a:xfrm>
            <a:custGeom>
              <a:avLst/>
              <a:gdLst/>
              <a:ahLst/>
              <a:cxnLst/>
              <a:rect r="r" b="b" t="t" l="l"/>
              <a:pathLst>
                <a:path h="1073785" w="1073785">
                  <a:moveTo>
                    <a:pt x="0" y="0"/>
                  </a:moveTo>
                  <a:lnTo>
                    <a:pt x="1073785" y="0"/>
                  </a:lnTo>
                  <a:lnTo>
                    <a:pt x="1073785" y="1073785"/>
                  </a:lnTo>
                  <a:lnTo>
                    <a:pt x="0" y="1073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4" b="-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362726"/>
            <a:ext cx="1021090" cy="1021090"/>
            <a:chOff x="0" y="0"/>
            <a:chExt cx="1361453" cy="136145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61440" cy="1361440"/>
            </a:xfrm>
            <a:custGeom>
              <a:avLst/>
              <a:gdLst/>
              <a:ahLst/>
              <a:cxnLst/>
              <a:rect r="r" b="b" t="t" l="l"/>
              <a:pathLst>
                <a:path h="1361440" w="1361440">
                  <a:moveTo>
                    <a:pt x="0" y="0"/>
                  </a:moveTo>
                  <a:lnTo>
                    <a:pt x="1361440" y="0"/>
                  </a:lnTo>
                  <a:lnTo>
                    <a:pt x="1361440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7311" y="5824766"/>
            <a:ext cx="843829" cy="843829"/>
            <a:chOff x="0" y="0"/>
            <a:chExt cx="1125106" cy="11251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5093" cy="1125093"/>
            </a:xfrm>
            <a:custGeom>
              <a:avLst/>
              <a:gdLst/>
              <a:ahLst/>
              <a:cxnLst/>
              <a:rect r="r" b="b" t="t" l="l"/>
              <a:pathLst>
                <a:path h="1125093" w="1125093">
                  <a:moveTo>
                    <a:pt x="0" y="0"/>
                  </a:moveTo>
                  <a:lnTo>
                    <a:pt x="1125093" y="0"/>
                  </a:lnTo>
                  <a:lnTo>
                    <a:pt x="1125093" y="1125093"/>
                  </a:lnTo>
                  <a:lnTo>
                    <a:pt x="0" y="1125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80605" y="7131625"/>
            <a:ext cx="780974" cy="780974"/>
            <a:chOff x="0" y="0"/>
            <a:chExt cx="1041298" cy="10412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273" cy="1041273"/>
            </a:xfrm>
            <a:custGeom>
              <a:avLst/>
              <a:gdLst/>
              <a:ahLst/>
              <a:cxnLst/>
              <a:rect r="r" b="b" t="t" l="l"/>
              <a:pathLst>
                <a:path h="1041273" w="1041273">
                  <a:moveTo>
                    <a:pt x="0" y="0"/>
                  </a:moveTo>
                  <a:lnTo>
                    <a:pt x="1041273" y="0"/>
                  </a:lnTo>
                  <a:lnTo>
                    <a:pt x="1041273" y="1041273"/>
                  </a:lnTo>
                  <a:lnTo>
                    <a:pt x="0" y="10412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2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0542" y="8201206"/>
            <a:ext cx="1021090" cy="1021090"/>
            <a:chOff x="0" y="0"/>
            <a:chExt cx="1361453" cy="13614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61440" cy="1361440"/>
            </a:xfrm>
            <a:custGeom>
              <a:avLst/>
              <a:gdLst/>
              <a:ahLst/>
              <a:cxnLst/>
              <a:rect r="r" b="b" t="t" l="l"/>
              <a:pathLst>
                <a:path h="1361440" w="1361440">
                  <a:moveTo>
                    <a:pt x="0" y="0"/>
                  </a:moveTo>
                  <a:lnTo>
                    <a:pt x="1361440" y="0"/>
                  </a:lnTo>
                  <a:lnTo>
                    <a:pt x="1361440" y="1361440"/>
                  </a:lnTo>
                  <a:lnTo>
                    <a:pt x="0" y="1361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451417" y="3077813"/>
            <a:ext cx="838152" cy="838152"/>
            <a:chOff x="0" y="0"/>
            <a:chExt cx="1117536" cy="11175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176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1117600">
                  <a:moveTo>
                    <a:pt x="0" y="0"/>
                  </a:moveTo>
                  <a:lnTo>
                    <a:pt x="1117600" y="0"/>
                  </a:lnTo>
                  <a:lnTo>
                    <a:pt x="1117600" y="1117600"/>
                  </a:lnTo>
                  <a:lnTo>
                    <a:pt x="0" y="111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5" b="5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90279" y="5864819"/>
            <a:ext cx="799290" cy="799290"/>
            <a:chOff x="0" y="0"/>
            <a:chExt cx="1065720" cy="1065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5784" cy="1065784"/>
            </a:xfrm>
            <a:custGeom>
              <a:avLst/>
              <a:gdLst/>
              <a:ahLst/>
              <a:cxnLst/>
              <a:rect r="r" b="b" t="t" l="l"/>
              <a:pathLst>
                <a:path h="1065784" w="1065784">
                  <a:moveTo>
                    <a:pt x="0" y="0"/>
                  </a:moveTo>
                  <a:lnTo>
                    <a:pt x="1065784" y="0"/>
                  </a:lnTo>
                  <a:lnTo>
                    <a:pt x="1065784" y="1065784"/>
                  </a:lnTo>
                  <a:lnTo>
                    <a:pt x="0" y="10657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5" b="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90279" y="7168944"/>
            <a:ext cx="808206" cy="808206"/>
            <a:chOff x="0" y="0"/>
            <a:chExt cx="1077608" cy="10776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7595" cy="1077595"/>
            </a:xfrm>
            <a:custGeom>
              <a:avLst/>
              <a:gdLst/>
              <a:ahLst/>
              <a:cxnLst/>
              <a:rect r="r" b="b" t="t" l="l"/>
              <a:pathLst>
                <a:path h="1077595" w="1077595">
                  <a:moveTo>
                    <a:pt x="0" y="0"/>
                  </a:moveTo>
                  <a:lnTo>
                    <a:pt x="1077595" y="0"/>
                  </a:lnTo>
                  <a:lnTo>
                    <a:pt x="1077595" y="1077595"/>
                  </a:lnTo>
                  <a:lnTo>
                    <a:pt x="0" y="10775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-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445588" y="8481974"/>
            <a:ext cx="882606" cy="882606"/>
            <a:chOff x="0" y="0"/>
            <a:chExt cx="1176807" cy="11768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76782" cy="1176782"/>
            </a:xfrm>
            <a:custGeom>
              <a:avLst/>
              <a:gdLst/>
              <a:ahLst/>
              <a:cxnLst/>
              <a:rect r="r" b="b" t="t" l="l"/>
              <a:pathLst>
                <a:path h="1176782" w="1176782">
                  <a:moveTo>
                    <a:pt x="0" y="0"/>
                  </a:moveTo>
                  <a:lnTo>
                    <a:pt x="1176782" y="0"/>
                  </a:lnTo>
                  <a:lnTo>
                    <a:pt x="1176782" y="1176782"/>
                  </a:lnTo>
                  <a:lnTo>
                    <a:pt x="0" y="1176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2" b="-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3925664" y="3007443"/>
            <a:ext cx="933002" cy="933002"/>
            <a:chOff x="0" y="0"/>
            <a:chExt cx="1244003" cy="12440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43965" cy="1243965"/>
            </a:xfrm>
            <a:custGeom>
              <a:avLst/>
              <a:gdLst/>
              <a:ahLst/>
              <a:cxnLst/>
              <a:rect r="r" b="b" t="t" l="l"/>
              <a:pathLst>
                <a:path h="1243965" w="1243965">
                  <a:moveTo>
                    <a:pt x="0" y="0"/>
                  </a:moveTo>
                  <a:lnTo>
                    <a:pt x="1243965" y="0"/>
                  </a:lnTo>
                  <a:lnTo>
                    <a:pt x="1243965" y="1243965"/>
                  </a:lnTo>
                  <a:lnTo>
                    <a:pt x="0" y="1243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-3" b="-3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172676" y="4534595"/>
            <a:ext cx="624440" cy="1419177"/>
            <a:chOff x="0" y="0"/>
            <a:chExt cx="832587" cy="18922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32612" cy="1892300"/>
            </a:xfrm>
            <a:custGeom>
              <a:avLst/>
              <a:gdLst/>
              <a:ahLst/>
              <a:cxnLst/>
              <a:rect r="r" b="b" t="t" l="l"/>
              <a:pathLst>
                <a:path h="1892300" w="832612">
                  <a:moveTo>
                    <a:pt x="0" y="0"/>
                  </a:moveTo>
                  <a:lnTo>
                    <a:pt x="832612" y="0"/>
                  </a:lnTo>
                  <a:lnTo>
                    <a:pt x="832612" y="1892300"/>
                  </a:lnTo>
                  <a:lnTo>
                    <a:pt x="0" y="189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227" t="0" r="-224" b="3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4069692" y="6434299"/>
            <a:ext cx="1139523" cy="860346"/>
            <a:chOff x="0" y="0"/>
            <a:chExt cx="1519364" cy="1147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519428" cy="1147064"/>
            </a:xfrm>
            <a:custGeom>
              <a:avLst/>
              <a:gdLst/>
              <a:ahLst/>
              <a:cxnLst/>
              <a:rect r="r" b="b" t="t" l="l"/>
              <a:pathLst>
                <a:path h="1147064" w="1519428">
                  <a:moveTo>
                    <a:pt x="0" y="0"/>
                  </a:moveTo>
                  <a:lnTo>
                    <a:pt x="1519428" y="0"/>
                  </a:lnTo>
                  <a:lnTo>
                    <a:pt x="1519428" y="1147064"/>
                  </a:lnTo>
                  <a:lnTo>
                    <a:pt x="0" y="1147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98" r="4" b="-202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3078375" y="546249"/>
            <a:ext cx="4945199" cy="113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2"/>
              </a:lnSpc>
            </a:pPr>
            <a:r>
              <a:rPr lang="en-US" b="true" sz="54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EVIDENCIAS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036008" y="11239948"/>
            <a:ext cx="3072003" cy="2300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PRODUCT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SPRINT BACKLOG</a:t>
            </a:r>
          </a:p>
          <a:p>
            <a:pPr algn="just">
              <a:lnSpc>
                <a:spcPts val="1696"/>
              </a:lnSpc>
            </a:pPr>
          </a:p>
          <a:p>
            <a:pPr algn="just">
              <a:lnSpc>
                <a:spcPts val="3605"/>
              </a:lnSpc>
            </a:pPr>
            <a:r>
              <a:rPr lang="en-US" sz="18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ÉPICAS E HISTORIAS DE USUARIO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259300" y="8953500"/>
            <a:ext cx="542401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15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199665" y="3287011"/>
            <a:ext cx="2634482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Daily Meetings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99665" y="4568171"/>
            <a:ext cx="4570552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Reviews Y Retrospectivas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277647" y="6006160"/>
            <a:ext cx="2786748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Burndown Chart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277647" y="7208920"/>
            <a:ext cx="2921060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Impediment Log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52332" y="8497129"/>
            <a:ext cx="2481815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Tablero Trello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11992" y="1543574"/>
            <a:ext cx="4233596" cy="47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 i="true">
                <a:solidFill>
                  <a:srgbClr val="F9D75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791842" y="3191789"/>
            <a:ext cx="2857443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Product backlog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791842" y="4572238"/>
            <a:ext cx="2565978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 backlog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791842" y="5894813"/>
            <a:ext cx="3431800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Registro de Avance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696849" y="7276529"/>
            <a:ext cx="4579830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Plan de pruebas y riesgos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696849" y="8450342"/>
            <a:ext cx="4662488" cy="524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Prototipo de alta fidelidad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797107" y="3018692"/>
            <a:ext cx="338244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Repositorio del Proyecto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209215" y="4634646"/>
            <a:ext cx="2622594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Arquitectura y </a:t>
            </a:r>
          </a:p>
          <a:p>
            <a:pPr algn="ctr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DER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550563" y="6253896"/>
            <a:ext cx="1939881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Increment </a:t>
            </a:r>
          </a:p>
          <a:p>
            <a:pPr algn="ctr">
              <a:lnSpc>
                <a:spcPts val="4220"/>
              </a:lnSpc>
            </a:pPr>
            <a:r>
              <a:rPr lang="en-US" b="true" sz="2931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Sprint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3753" y="-59484"/>
            <a:ext cx="18348960" cy="10355580"/>
            <a:chOff x="0" y="0"/>
            <a:chExt cx="24465280" cy="1380744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465280" cy="13807439"/>
            </a:xfrm>
            <a:custGeom>
              <a:avLst/>
              <a:gdLst/>
              <a:ahLst/>
              <a:cxnLst/>
              <a:rect r="r" b="b" t="t" l="l"/>
              <a:pathLst>
                <a:path h="13807439" w="24465280">
                  <a:moveTo>
                    <a:pt x="0" y="13807439"/>
                  </a:moveTo>
                  <a:lnTo>
                    <a:pt x="24465280" y="13807439"/>
                  </a:lnTo>
                  <a:lnTo>
                    <a:pt x="24465280" y="0"/>
                  </a:lnTo>
                  <a:lnTo>
                    <a:pt x="0" y="0"/>
                  </a:lnTo>
                  <a:lnTo>
                    <a:pt x="0" y="13807439"/>
                  </a:lnTo>
                  <a:close/>
                </a:path>
              </a:pathLst>
            </a:custGeom>
            <a:blipFill>
              <a:blip r:embed="rId3"/>
              <a:stretch>
                <a:fillRect l="0" t="-9063" r="0" b="-906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4096" y="514207"/>
            <a:ext cx="1601152" cy="1577054"/>
            <a:chOff x="0" y="0"/>
            <a:chExt cx="2134870" cy="21027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4870" cy="2102739"/>
            </a:xfrm>
            <a:custGeom>
              <a:avLst/>
              <a:gdLst/>
              <a:ahLst/>
              <a:cxnLst/>
              <a:rect r="r" b="b" t="t" l="l"/>
              <a:pathLst>
                <a:path h="2102739" w="2134870">
                  <a:moveTo>
                    <a:pt x="0" y="0"/>
                  </a:moveTo>
                  <a:lnTo>
                    <a:pt x="2134870" y="0"/>
                  </a:lnTo>
                  <a:lnTo>
                    <a:pt x="2134870" y="2102739"/>
                  </a:lnTo>
                  <a:lnTo>
                    <a:pt x="0" y="210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3" r="0" b="-172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82467" y="2574417"/>
            <a:ext cx="2610898" cy="63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92"/>
              </a:lnSpc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FASE 1 — S1 a S7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22796" y="582740"/>
            <a:ext cx="11642398" cy="1097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65"/>
              </a:lnSpc>
            </a:pPr>
            <a:r>
              <a:rPr lang="en-US" b="true" sz="4898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CRONOGRAMA DE IMPLEMENTACIÓN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14779" y="1498883"/>
            <a:ext cx="4233596" cy="47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82"/>
              </a:lnSpc>
            </a:pPr>
            <a:r>
              <a:rPr lang="en-US" b="true" sz="1899" i="true">
                <a:solidFill>
                  <a:srgbClr val="F9D75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65498" y="9223924"/>
            <a:ext cx="607800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152722" y="514226"/>
            <a:ext cx="1601152" cy="1577054"/>
            <a:chOff x="0" y="0"/>
            <a:chExt cx="2134870" cy="21027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4870" cy="2102739"/>
            </a:xfrm>
            <a:custGeom>
              <a:avLst/>
              <a:gdLst/>
              <a:ahLst/>
              <a:cxnLst/>
              <a:rect r="r" b="b" t="t" l="l"/>
              <a:pathLst>
                <a:path h="2102739" w="2134870">
                  <a:moveTo>
                    <a:pt x="0" y="0"/>
                  </a:moveTo>
                  <a:lnTo>
                    <a:pt x="2134870" y="0"/>
                  </a:lnTo>
                  <a:lnTo>
                    <a:pt x="2134870" y="2102739"/>
                  </a:lnTo>
                  <a:lnTo>
                    <a:pt x="0" y="210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23" r="0" b="-172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716" y="2091252"/>
            <a:ext cx="17865023" cy="7764828"/>
            <a:chOff x="0" y="0"/>
            <a:chExt cx="23820031" cy="1035310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19993" cy="10353040"/>
            </a:xfrm>
            <a:custGeom>
              <a:avLst/>
              <a:gdLst/>
              <a:ahLst/>
              <a:cxnLst/>
              <a:rect r="r" b="b" t="t" l="l"/>
              <a:pathLst>
                <a:path h="10353040" w="23819993">
                  <a:moveTo>
                    <a:pt x="0" y="0"/>
                  </a:moveTo>
                  <a:lnTo>
                    <a:pt x="23819993" y="0"/>
                  </a:lnTo>
                  <a:lnTo>
                    <a:pt x="23819993" y="10353040"/>
                  </a:lnTo>
                  <a:lnTo>
                    <a:pt x="0" y="1035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707573" y="4460129"/>
            <a:ext cx="9497663" cy="4978241"/>
            <a:chOff x="0" y="0"/>
            <a:chExt cx="12663551" cy="663765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63551" cy="6637655"/>
            </a:xfrm>
            <a:custGeom>
              <a:avLst/>
              <a:gdLst/>
              <a:ahLst/>
              <a:cxnLst/>
              <a:rect r="r" b="b" t="t" l="l"/>
              <a:pathLst>
                <a:path h="6637655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637655"/>
                  </a:lnTo>
                  <a:lnTo>
                    <a:pt x="0" y="66376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952" r="0" b="-395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8826240">
            <a:off x="4532881" y="-1082526"/>
            <a:ext cx="3865436" cy="3420999"/>
            <a:chOff x="0" y="0"/>
            <a:chExt cx="5153914" cy="4561332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5153914" cy="4561332"/>
            </a:xfrm>
            <a:custGeom>
              <a:avLst/>
              <a:gdLst/>
              <a:ahLst/>
              <a:cxnLst/>
              <a:rect r="r" b="b" t="t" l="l"/>
              <a:pathLst>
                <a:path h="4561332" w="5153914">
                  <a:moveTo>
                    <a:pt x="0" y="4561332"/>
                  </a:moveTo>
                  <a:lnTo>
                    <a:pt x="5153914" y="4561332"/>
                  </a:lnTo>
                  <a:lnTo>
                    <a:pt x="5153914" y="0"/>
                  </a:lnTo>
                  <a:lnTo>
                    <a:pt x="0" y="0"/>
                  </a:lnTo>
                  <a:lnTo>
                    <a:pt x="0" y="4561332"/>
                  </a:lnTo>
                  <a:close/>
                </a:path>
              </a:pathLst>
            </a:custGeom>
            <a:blipFill>
              <a:blip r:embed="rId5">
                <a:alphaModFix amt="35000"/>
              </a:blip>
              <a:stretch>
                <a:fillRect l="0" t="-3" r="0" b="-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069773" y="5697969"/>
            <a:ext cx="3687890" cy="3753517"/>
            <a:chOff x="0" y="0"/>
            <a:chExt cx="4917186" cy="50046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54" r="0" b="-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71455" y="825494"/>
            <a:ext cx="714470" cy="714470"/>
            <a:chOff x="0" y="0"/>
            <a:chExt cx="952627" cy="9526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9764325" y="6949773"/>
            <a:ext cx="5604300" cy="69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34"/>
              </a:lnSpc>
            </a:pPr>
            <a:r>
              <a:rPr lang="en-US" b="true" sz="27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¿Que podemos concluir?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1446" y="3296774"/>
            <a:ext cx="6874497" cy="183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CONCLUSION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5095" y="7622372"/>
            <a:ext cx="8518798" cy="149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sz="2000" i="true">
                <a:solidFill>
                  <a:srgbClr val="FFFFFF"/>
                </a:solidFill>
                <a:latin typeface="Poppins Light Italics"/>
                <a:ea typeface="Poppins Light Italics"/>
                <a:cs typeface="Poppins Light Italics"/>
                <a:sym typeface="Poppins Light Italics"/>
              </a:rPr>
              <a:t>El proyecto permitirá integrar inventario, ventas y torneos sobre una única fuente de información, reduciendo sobreventas, tareas manuales y decisiones sin respaldo de datos.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37007" y="4756252"/>
            <a:ext cx="3426904" cy="54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23914" y="705850"/>
            <a:ext cx="4233596" cy="9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8953500"/>
            <a:ext cx="489004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17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07573" y="2147354"/>
            <a:ext cx="9497663" cy="4720590"/>
            <a:chOff x="0" y="0"/>
            <a:chExt cx="12663551" cy="6294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663551" cy="6294120"/>
            </a:xfrm>
            <a:custGeom>
              <a:avLst/>
              <a:gdLst/>
              <a:ahLst/>
              <a:cxnLst/>
              <a:rect r="r" b="b" t="t" l="l"/>
              <a:pathLst>
                <a:path h="6294120" w="12663551">
                  <a:moveTo>
                    <a:pt x="0" y="0"/>
                  </a:moveTo>
                  <a:lnTo>
                    <a:pt x="12663551" y="0"/>
                  </a:lnTo>
                  <a:lnTo>
                    <a:pt x="12663551" y="6294120"/>
                  </a:lnTo>
                  <a:lnTo>
                    <a:pt x="0" y="6294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6912" r="0" b="-6912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8826240">
            <a:off x="4532881" y="-1082526"/>
            <a:ext cx="3865436" cy="3420999"/>
            <a:chOff x="0" y="0"/>
            <a:chExt cx="5153914" cy="4561332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5153914" cy="4561332"/>
            </a:xfrm>
            <a:custGeom>
              <a:avLst/>
              <a:gdLst/>
              <a:ahLst/>
              <a:cxnLst/>
              <a:rect r="r" b="b" t="t" l="l"/>
              <a:pathLst>
                <a:path h="4561332" w="5153914">
                  <a:moveTo>
                    <a:pt x="0" y="4561332"/>
                  </a:moveTo>
                  <a:lnTo>
                    <a:pt x="5153914" y="4561332"/>
                  </a:lnTo>
                  <a:lnTo>
                    <a:pt x="5153914" y="0"/>
                  </a:lnTo>
                  <a:lnTo>
                    <a:pt x="0" y="0"/>
                  </a:lnTo>
                  <a:lnTo>
                    <a:pt x="0" y="4561332"/>
                  </a:lnTo>
                  <a:close/>
                </a:path>
              </a:pathLst>
            </a:custGeom>
            <a:blipFill>
              <a:blip r:embed="rId4">
                <a:alphaModFix amt="35000"/>
              </a:blip>
              <a:stretch>
                <a:fillRect l="0" t="-3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69773" y="5721763"/>
            <a:ext cx="3687890" cy="3753517"/>
            <a:chOff x="0" y="0"/>
            <a:chExt cx="4917186" cy="5004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17186" cy="5004689"/>
            </a:xfrm>
            <a:custGeom>
              <a:avLst/>
              <a:gdLst/>
              <a:ahLst/>
              <a:cxnLst/>
              <a:rect r="r" b="b" t="t" l="l"/>
              <a:pathLst>
                <a:path h="5004689" w="4917186">
                  <a:moveTo>
                    <a:pt x="0" y="0"/>
                  </a:moveTo>
                  <a:lnTo>
                    <a:pt x="4917186" y="0"/>
                  </a:lnTo>
                  <a:lnTo>
                    <a:pt x="4917186" y="5004689"/>
                  </a:lnTo>
                  <a:lnTo>
                    <a:pt x="0" y="5004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4" r="0" b="-5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71455" y="673094"/>
            <a:ext cx="714470" cy="714470"/>
            <a:chOff x="0" y="0"/>
            <a:chExt cx="952627" cy="9526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627" cy="952627"/>
            </a:xfrm>
            <a:custGeom>
              <a:avLst/>
              <a:gdLst/>
              <a:ahLst/>
              <a:cxnLst/>
              <a:rect r="r" b="b" t="t" l="l"/>
              <a:pathLst>
                <a:path h="952627" w="952627">
                  <a:moveTo>
                    <a:pt x="0" y="0"/>
                  </a:moveTo>
                  <a:lnTo>
                    <a:pt x="952627" y="0"/>
                  </a:lnTo>
                  <a:lnTo>
                    <a:pt x="952627" y="952627"/>
                  </a:lnTo>
                  <a:lnTo>
                    <a:pt x="0" y="952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678364" y="4591508"/>
            <a:ext cx="8580936" cy="3740750"/>
            <a:chOff x="0" y="0"/>
            <a:chExt cx="11441248" cy="49876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41248" cy="4987667"/>
            </a:xfrm>
            <a:custGeom>
              <a:avLst/>
              <a:gdLst/>
              <a:ahLst/>
              <a:cxnLst/>
              <a:rect r="r" b="b" t="t" l="l"/>
              <a:pathLst>
                <a:path h="4987667" w="11441248">
                  <a:moveTo>
                    <a:pt x="0" y="0"/>
                  </a:moveTo>
                  <a:lnTo>
                    <a:pt x="11441248" y="0"/>
                  </a:lnTo>
                  <a:lnTo>
                    <a:pt x="11441248" y="4987667"/>
                  </a:lnTo>
                  <a:lnTo>
                    <a:pt x="0" y="49876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4870" r="0" b="-1487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8700" y="3357448"/>
            <a:ext cx="5604300" cy="1831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REFLEXION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48567" y="4809487"/>
            <a:ext cx="3426904" cy="544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0"/>
              </a:lnSpc>
            </a:pPr>
            <a:r>
              <a:rPr lang="en-US" b="true" sz="2298" i="true">
                <a:solidFill>
                  <a:srgbClr val="FFF6DB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TODOFREAKSTORE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23914" y="551812"/>
            <a:ext cx="4233596" cy="968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DUOC UC </a:t>
            </a:r>
          </a:p>
          <a:p>
            <a:pPr algn="l">
              <a:lnSpc>
                <a:spcPts val="3970"/>
              </a:lnSpc>
            </a:pPr>
            <a:r>
              <a:rPr lang="en-US" sz="229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SEDE VIÑA DEL MAR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8953500"/>
            <a:ext cx="405603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26633" y="6838310"/>
            <a:ext cx="6505564" cy="924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98"/>
              </a:lnSpc>
            </a:pPr>
            <a:r>
              <a:rPr lang="en-US" b="true" sz="439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Reflexiones Finales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699531" y="1636403"/>
            <a:ext cx="8559769" cy="4828033"/>
            <a:chOff x="0" y="0"/>
            <a:chExt cx="7144893" cy="4029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44893" cy="4029990"/>
            </a:xfrm>
            <a:custGeom>
              <a:avLst/>
              <a:gdLst/>
              <a:ahLst/>
              <a:cxnLst/>
              <a:rect r="r" b="b" t="t" l="l"/>
              <a:pathLst>
                <a:path h="4029990" w="7144893">
                  <a:moveTo>
                    <a:pt x="0" y="0"/>
                  </a:moveTo>
                  <a:lnTo>
                    <a:pt x="7144893" y="0"/>
                  </a:lnTo>
                  <a:lnTo>
                    <a:pt x="7144893" y="4029990"/>
                  </a:lnTo>
                  <a:lnTo>
                    <a:pt x="0" y="40299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51" r="0" b="-15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13716000"/>
                  </a:moveTo>
                  <a:lnTo>
                    <a:pt x="24384000" y="13716000"/>
                  </a:lnTo>
                  <a:lnTo>
                    <a:pt x="24384000" y="0"/>
                  </a:lnTo>
                  <a:lnTo>
                    <a:pt x="0" y="0"/>
                  </a:lnTo>
                  <a:lnTo>
                    <a:pt x="0" y="13716000"/>
                  </a:lnTo>
                  <a:close/>
                </a:path>
              </a:pathLst>
            </a:custGeom>
            <a:blipFill>
              <a:blip r:embed="rId3"/>
              <a:stretch>
                <a:fillRect l="0" t="-9259" r="0" b="-925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06579" y="5685549"/>
            <a:ext cx="3510248" cy="3572732"/>
            <a:chOff x="0" y="0"/>
            <a:chExt cx="4680331" cy="476364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80331" cy="4763643"/>
            </a:xfrm>
            <a:custGeom>
              <a:avLst/>
              <a:gdLst/>
              <a:ahLst/>
              <a:cxnLst/>
              <a:rect r="r" b="b" t="t" l="l"/>
              <a:pathLst>
                <a:path h="4763643" w="4680331">
                  <a:moveTo>
                    <a:pt x="0" y="0"/>
                  </a:moveTo>
                  <a:lnTo>
                    <a:pt x="4680331" y="0"/>
                  </a:lnTo>
                  <a:lnTo>
                    <a:pt x="4680331" y="4763643"/>
                  </a:lnTo>
                  <a:lnTo>
                    <a:pt x="0" y="47636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4" r="0" b="-54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622702" y="3055029"/>
            <a:ext cx="9477975" cy="167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24"/>
              </a:lnSpc>
            </a:pPr>
            <a:r>
              <a:rPr lang="en-US" b="true" sz="8000">
                <a:solidFill>
                  <a:srgbClr val="FFFFFF"/>
                </a:solidFill>
                <a:latin typeface="Atkinson Hyperlegible Bold"/>
                <a:ea typeface="Atkinson Hyperlegible Bold"/>
                <a:cs typeface="Atkinson Hyperlegible Bold"/>
                <a:sym typeface="Atkinson Hyperlegible Bold"/>
              </a:rPr>
              <a:t>MUCHAS GRACIAS!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95321" y="4401226"/>
            <a:ext cx="7799699" cy="847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71"/>
              </a:lnSpc>
            </a:pPr>
            <a:r>
              <a:rPr lang="en-US" sz="3399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PROYECTO TODOFREAKSTORE WEB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8953500"/>
            <a:ext cx="732596" cy="56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DAHXKJ31SWo</dc:identifier>
  <dcterms:modified xsi:type="dcterms:W3CDTF">2011-08-01T06:04:30Z</dcterms:modified>
  <cp:revision>1</cp:revision>
  <dc:title>TodoFreakStore.pptx</dc:title>
</cp:coreProperties>
</file>